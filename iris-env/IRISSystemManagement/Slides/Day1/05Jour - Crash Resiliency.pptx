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19" r:id="rId1"/>
  </p:sldMasterIdLst>
  <p:notesMasterIdLst>
    <p:notesMasterId r:id="rId5"/>
  </p:notesMasterIdLst>
  <p:handoutMasterIdLst>
    <p:handoutMasterId r:id="rId6"/>
  </p:handoutMasterIdLst>
  <p:sldIdLst>
    <p:sldId id="256" r:id="rId2"/>
    <p:sldId id="285" r:id="rId3"/>
    <p:sldId id="298" r:id="rId4"/>
  </p:sldIdLst>
  <p:sldSz cx="9144000" cy="6858000" type="screen4x3"/>
  <p:notesSz cx="7124700" cy="9410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4">
          <p15:clr>
            <a:srgbClr val="A4A3A4"/>
          </p15:clr>
        </p15:guide>
        <p15:guide id="2" pos="22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Schafer" initials="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86579"/>
  </p:normalViewPr>
  <p:slideViewPr>
    <p:cSldViewPr>
      <p:cViewPr varScale="1">
        <p:scale>
          <a:sx n="138" d="100"/>
          <a:sy n="138" d="100"/>
        </p:scale>
        <p:origin x="20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6178"/>
    </p:cViewPr>
  </p:sorterViewPr>
  <p:notesViewPr>
    <p:cSldViewPr>
      <p:cViewPr varScale="1">
        <p:scale>
          <a:sx n="115" d="100"/>
          <a:sy n="115" d="100"/>
        </p:scale>
        <p:origin x="4048" y="200"/>
      </p:cViewPr>
      <p:guideLst>
        <p:guide orient="horz" pos="2964"/>
        <p:guide pos="22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5">
            <a:extLst>
              <a:ext uri="{FF2B5EF4-FFF2-40B4-BE49-F238E27FC236}">
                <a16:creationId xmlns:a16="http://schemas.microsoft.com/office/drawing/2014/main" id="{24E26A8D-2583-7E6B-6BDC-69A61F6B954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001838" y="8940800"/>
            <a:ext cx="3087687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b" anchorCtr="0" compatLnSpc="1">
            <a:prstTxWarp prst="textNoShape">
              <a:avLst/>
            </a:prstTxWarp>
          </a:bodyPr>
          <a:lstStyle>
            <a:lvl1pPr algn="ctr" defTabSz="944563">
              <a:defRPr sz="1200" b="0"/>
            </a:lvl1pPr>
          </a:lstStyle>
          <a:p>
            <a:pPr>
              <a:defRPr/>
            </a:pPr>
            <a:fld id="{2B99522C-41B1-B648-9B25-9D4D2FD760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51413867-82F5-DD90-C7BE-59812A22D3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017713" y="0"/>
            <a:ext cx="3087687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t" anchorCtr="0" compatLnSpc="1">
            <a:prstTxWarp prst="textNoShape">
              <a:avLst/>
            </a:prstTxWarp>
          </a:bodyPr>
          <a:lstStyle>
            <a:lvl1pPr algn="ctr" defTabSz="944563" eaLnBrk="0" hangingPunct="0">
              <a:defRPr sz="1200" b="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Journaling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E2A1449-D306-9EDF-ACFD-BCAEEE2232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019300" y="8940800"/>
            <a:ext cx="3086100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b" anchorCtr="0" compatLnSpc="1">
            <a:prstTxWarp prst="textNoShape">
              <a:avLst/>
            </a:prstTxWarp>
          </a:bodyPr>
          <a:lstStyle>
            <a:lvl1pPr algn="ctr" defTabSz="944563">
              <a:defRPr sz="1200" b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EA614BA9-EA1D-FE01-F248-2C37B7A87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001838" y="8940800"/>
            <a:ext cx="3087687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b" anchorCtr="0" compatLnSpc="1">
            <a:prstTxWarp prst="textNoShape">
              <a:avLst/>
            </a:prstTxWarp>
          </a:bodyPr>
          <a:lstStyle>
            <a:lvl1pPr algn="ctr" defTabSz="944563">
              <a:defRPr sz="1200" b="0"/>
            </a:lvl1pPr>
          </a:lstStyle>
          <a:p>
            <a:pPr>
              <a:defRPr/>
            </a:pPr>
            <a:fld id="{DA1A8D90-5003-1B45-A60C-59DAC1B718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F8F8EAEB-00C1-509E-5534-94565A30DE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017713" y="0"/>
            <a:ext cx="3087687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t" anchorCtr="0" compatLnSpc="1">
            <a:prstTxWarp prst="textNoShape">
              <a:avLst/>
            </a:prstTxWarp>
          </a:bodyPr>
          <a:lstStyle>
            <a:lvl1pPr algn="ctr" defTabSz="944563" eaLnBrk="0" hangingPunct="0">
              <a:defRPr sz="1200" b="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Journaling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12C5DD6-24B1-6575-76AE-DF78509C8E8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706438"/>
            <a:ext cx="4705350" cy="3529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2405BAC-4229-6B8A-AA2F-2B9480C7EF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470400"/>
            <a:ext cx="5226050" cy="42338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15DDA99-AD15-9A8B-D64B-CE7345D029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019300" y="8940800"/>
            <a:ext cx="3086100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485" tIns="47242" rIns="94485" bIns="47242" numCol="1" anchor="b" anchorCtr="0" compatLnSpc="1">
            <a:prstTxWarp prst="textNoShape">
              <a:avLst/>
            </a:prstTxWarp>
          </a:bodyPr>
          <a:lstStyle>
            <a:lvl1pPr algn="ctr" defTabSz="944563">
              <a:defRPr sz="1200" b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Verdana" pitchFamily="3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Verdan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Verdan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Verdan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Verdan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BFE1A912-3226-B5A3-2E64-50023DE58B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200"/>
              <a:t>Journaling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10A5B940-057B-FD5A-9B31-4C0A33C4DA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0DCE06B-0C1F-217D-ACFE-46724861C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3B3039AC-9024-8047-69FA-C8F078C04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F8800D-9E63-7048-8D77-F7B270259DA6}" type="slidenum">
              <a:rPr lang="en-US" altLang="en-US" sz="1200" smtClean="0"/>
              <a:pPr>
                <a:spcBef>
                  <a:spcPct val="0"/>
                </a:spcBef>
              </a:pPr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F66FCAA0-FA90-6803-B068-28D7A0CD94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200"/>
              <a:t>Journaling</a:t>
            </a: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2457593-A31F-3BED-4E77-8F077050D4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C339F0B-C739-B98E-EE70-396E95C05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D360C57B-0031-88E5-A6C5-3802FF4D6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3041583-AA9C-6D46-B3B7-447C4F5B1829}" type="slidenum">
              <a:rPr lang="en-US" altLang="en-US" sz="1200" smtClean="0"/>
              <a:pPr>
                <a:spcBef>
                  <a:spcPct val="0"/>
                </a:spcBef>
              </a:pPr>
              <a:t>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C409906A-E707-A6A4-062B-680847F43E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200"/>
              <a:t>Journaling</a:t>
            </a: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B2FABE72-5DF9-4F2D-27A8-4A442CB63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44CC4E0-2A06-1C6B-0A6A-5F119CB40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7588" name="Slide Number Placeholder 5">
            <a:extLst>
              <a:ext uri="{FF2B5EF4-FFF2-40B4-BE49-F238E27FC236}">
                <a16:creationId xmlns:a16="http://schemas.microsoft.com/office/drawing/2014/main" id="{2386D98A-369C-86D9-C5B7-796CFCE2A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44563">
              <a:spcBef>
                <a:spcPct val="30000"/>
              </a:spcBef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445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C69BDD-6E34-AB4D-875B-CD1632BEAB01}" type="slidenum">
              <a:rPr lang="en-US" altLang="en-US" sz="1200" smtClean="0"/>
              <a:pPr>
                <a:spcBef>
                  <a:spcPct val="0"/>
                </a:spcBef>
              </a:pPr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intersys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73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>
            <a:hlinkClick r:id="rId2"/>
            <a:extLst>
              <a:ext uri="{FF2B5EF4-FFF2-40B4-BE49-F238E27FC236}">
                <a16:creationId xmlns:a16="http://schemas.microsoft.com/office/drawing/2014/main" id="{81F946FF-0CBD-490F-DDA4-E19C6E865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31765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" name="Rectangle 1028">
            <a:hlinkClick r:id="rId2"/>
            <a:extLst>
              <a:ext uri="{FF2B5EF4-FFF2-40B4-BE49-F238E27FC236}">
                <a16:creationId xmlns:a16="http://schemas.microsoft.com/office/drawing/2014/main" id="{B3494BCA-2498-5A95-59BE-1F1033C0F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31765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F265BAA8-9E56-F5D1-63DD-0811D504CD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3962400"/>
            <a:ext cx="9144000" cy="0"/>
          </a:xfrm>
          <a:prstGeom prst="lin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39E0CDDD-F683-C03C-7D20-F1D351B223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828800"/>
            <a:ext cx="9144000" cy="0"/>
          </a:xfrm>
          <a:prstGeom prst="lin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11">
            <a:extLst>
              <a:ext uri="{FF2B5EF4-FFF2-40B4-BE49-F238E27FC236}">
                <a16:creationId xmlns:a16="http://schemas.microsoft.com/office/drawing/2014/main" id="{15BADC60-E3DD-D216-E9AB-044606DE02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606675"/>
            <a:ext cx="232568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717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91440" y="2167128"/>
            <a:ext cx="6080760" cy="1444752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383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340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74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834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281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31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5600" y="1295400"/>
            <a:ext cx="8331200" cy="228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600" y="3733800"/>
            <a:ext cx="8331200" cy="228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5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56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597400" y="1295400"/>
            <a:ext cx="4089400" cy="47244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</p:spTree>
    <p:extLst>
      <p:ext uri="{BB962C8B-B14F-4D97-AF65-F5344CB8AC3E}">
        <p14:creationId xmlns:p14="http://schemas.microsoft.com/office/powerpoint/2010/main" val="375046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1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331200" cy="228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5600" y="3733800"/>
            <a:ext cx="8331200" cy="228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4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55600" y="1295400"/>
            <a:ext cx="4089400" cy="47244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974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0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5600" y="1295400"/>
            <a:ext cx="8331200" cy="4724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1498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56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7400" y="1295400"/>
            <a:ext cx="40894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2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4089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97400" y="1295400"/>
            <a:ext cx="4089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928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55B4F64-7357-272B-0C65-61EECE041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1295400"/>
            <a:ext cx="8331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A4C8E7A-48D8-36FE-63EB-AB1AE47CF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E27BC-5011-2CC1-2FDA-871996FD7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8" y="6435725"/>
            <a:ext cx="7046912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fld id="{6D755913-045C-284D-A501-EA752E7E0571}" type="slidenum">
              <a:rPr lang="en-US" altLang="en-US" sz="1400" b="0" smtClean="0">
                <a:solidFill>
                  <a:schemeClr val="bg1"/>
                </a:solidFill>
              </a:rPr>
              <a:pPr>
                <a:spcBef>
                  <a:spcPct val="50000"/>
                </a:spcBef>
                <a:defRPr/>
              </a:pPr>
              <a:t>‹#›</a:t>
            </a:fld>
            <a:r>
              <a:rPr lang="en-US" altLang="en-US" sz="1400" b="0">
                <a:solidFill>
                  <a:schemeClr val="bg1"/>
                </a:solidFill>
              </a:rPr>
              <a:t> | Journaling</a:t>
            </a:r>
          </a:p>
        </p:txBody>
      </p:sp>
      <p:pic>
        <p:nvPicPr>
          <p:cNvPr id="1029" name="Picture 8">
            <a:extLst>
              <a:ext uri="{FF2B5EF4-FFF2-40B4-BE49-F238E27FC236}">
                <a16:creationId xmlns:a16="http://schemas.microsoft.com/office/drawing/2014/main" id="{08F26F8D-79BC-A373-A2F3-C5D16064A8A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350000"/>
            <a:ext cx="176212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0" name="Straight Connector 9">
            <a:extLst>
              <a:ext uri="{FF2B5EF4-FFF2-40B4-BE49-F238E27FC236}">
                <a16:creationId xmlns:a16="http://schemas.microsoft.com/office/drawing/2014/main" id="{1BCCC31D-4ABC-F9B6-0070-590E8D010C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9875" y="6321425"/>
            <a:ext cx="8620125" cy="0"/>
          </a:xfrm>
          <a:prstGeom prst="lin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26" r:id="rId2"/>
    <p:sldLayoutId id="2147485027" r:id="rId3"/>
    <p:sldLayoutId id="2147485028" r:id="rId4"/>
    <p:sldLayoutId id="2147485029" r:id="rId5"/>
    <p:sldLayoutId id="2147485030" r:id="rId6"/>
    <p:sldLayoutId id="2147485031" r:id="rId7"/>
    <p:sldLayoutId id="2147485032" r:id="rId8"/>
    <p:sldLayoutId id="2147485033" r:id="rId9"/>
    <p:sldLayoutId id="2147485034" r:id="rId10"/>
    <p:sldLayoutId id="2147485035" r:id="rId11"/>
    <p:sldLayoutId id="214748503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FFFF66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FFFF66"/>
          </a:solidFill>
          <a:latin typeface="Verdan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FFFF66"/>
          </a:solidFill>
          <a:latin typeface="Verdan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FFFF66"/>
          </a:solidFill>
          <a:latin typeface="Verdan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FFFF66"/>
          </a:solidFill>
          <a:latin typeface="Verdan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343399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343399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343399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3433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0000"/>
        <a:buFont typeface="Wingdings" pitchFamily="2" charset="2"/>
        <a:buChar char="n"/>
        <a:defRPr sz="2800">
          <a:solidFill>
            <a:srgbClr val="FFFF66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66"/>
        </a:buClr>
        <a:buSzPct val="55000"/>
        <a:buFont typeface="Wingdings" pitchFamily="2" charset="2"/>
        <a:buChar char="n"/>
        <a:defRPr sz="2400">
          <a:solidFill>
            <a:srgbClr val="FFFF66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B1515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rgbClr val="FFFF66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rgbClr val="FFFF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425B54E7-5C47-AA02-3CD5-06713B058A5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2075" y="2166938"/>
            <a:ext cx="6080125" cy="1444625"/>
          </a:xfrm>
        </p:spPr>
        <p:txBody>
          <a:bodyPr/>
          <a:lstStyle/>
          <a:p>
            <a:pPr eaLnBrk="1" hangingPunct="1"/>
            <a:r>
              <a:rPr lang="en-US" altLang="en-US"/>
              <a:t>Journaling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A040A8A9-84CC-3B03-CC72-8B6BDDB86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Crash Resiliency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ED694AD4-8633-A26C-2BDA-E45061B6D6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Besides blocks being written to disk, WIJ contains:</a:t>
            </a:r>
          </a:p>
          <a:p>
            <a:pPr lvl="1" eaLnBrk="1" hangingPunct="1"/>
            <a:r>
              <a:rPr lang="en-US" altLang="en-US"/>
              <a:t>Pointer to last journal entry successfully written to database.</a:t>
            </a:r>
          </a:p>
          <a:p>
            <a:pPr lvl="1" eaLnBrk="1" hangingPunct="1"/>
            <a:r>
              <a:rPr lang="en-US" altLang="en-US"/>
              <a:t>Address of oldest open transaction.</a:t>
            </a:r>
          </a:p>
        </p:txBody>
      </p:sp>
      <p:sp>
        <p:nvSpPr>
          <p:cNvPr id="64515" name="AutoShape 4">
            <a:extLst>
              <a:ext uri="{FF2B5EF4-FFF2-40B4-BE49-F238E27FC236}">
                <a16:creationId xmlns:a16="http://schemas.microsoft.com/office/drawing/2014/main" id="{D2B13470-5266-46B9-0916-672988F5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114800"/>
            <a:ext cx="1676400" cy="2133600"/>
          </a:xfrm>
          <a:prstGeom prst="flowChartMagneticDisk">
            <a:avLst/>
          </a:prstGeom>
          <a:solidFill>
            <a:srgbClr val="B2B2B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tIns="0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4516" name="Text Box 5">
            <a:extLst>
              <a:ext uri="{FF2B5EF4-FFF2-40B4-BE49-F238E27FC236}">
                <a16:creationId xmlns:a16="http://schemas.microsoft.com/office/drawing/2014/main" id="{DA012298-F967-4C27-9B92-F37B4BD32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962400"/>
            <a:ext cx="19145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Oldest open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transaction</a:t>
            </a:r>
          </a:p>
        </p:txBody>
      </p:sp>
      <p:sp>
        <p:nvSpPr>
          <p:cNvPr id="64517" name="AutoShape 7">
            <a:extLst>
              <a:ext uri="{FF2B5EF4-FFF2-40B4-BE49-F238E27FC236}">
                <a16:creationId xmlns:a16="http://schemas.microsoft.com/office/drawing/2014/main" id="{51FBD683-B6A1-FFDD-BD19-DE44CA498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57613"/>
            <a:ext cx="1770063" cy="2370137"/>
          </a:xfrm>
          <a:prstGeom prst="flowChartProcess">
            <a:avLst/>
          </a:prstGeom>
          <a:solidFill>
            <a:srgbClr val="B2B2B2"/>
          </a:solidFill>
          <a:ln w="635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TSTART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^a=1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^b=2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^c=3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^d=4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64518" name="AutoShape 8">
            <a:extLst>
              <a:ext uri="{FF2B5EF4-FFF2-40B4-BE49-F238E27FC236}">
                <a16:creationId xmlns:a16="http://schemas.microsoft.com/office/drawing/2014/main" id="{B5C48289-8030-1AD0-49AA-75FE9C254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3765550"/>
            <a:ext cx="2043112" cy="22860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4519" name="Text Box 10">
            <a:extLst>
              <a:ext uri="{FF2B5EF4-FFF2-40B4-BE49-F238E27FC236}">
                <a16:creationId xmlns:a16="http://schemas.microsoft.com/office/drawing/2014/main" id="{AF18A8F2-BA7D-F50D-41CC-5F3F3B86D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038600"/>
            <a:ext cx="19145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Oldest open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transaction</a:t>
            </a:r>
          </a:p>
        </p:txBody>
      </p:sp>
      <p:sp>
        <p:nvSpPr>
          <p:cNvPr id="64520" name="Text Box 11">
            <a:extLst>
              <a:ext uri="{FF2B5EF4-FFF2-40B4-BE49-F238E27FC236}">
                <a16:creationId xmlns:a16="http://schemas.microsoft.com/office/drawing/2014/main" id="{E21CE154-C692-E8EA-2984-46E927108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3251200"/>
            <a:ext cx="75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WIJ</a:t>
            </a:r>
          </a:p>
        </p:txBody>
      </p:sp>
      <p:sp>
        <p:nvSpPr>
          <p:cNvPr id="64521" name="Text Box 12">
            <a:extLst>
              <a:ext uri="{FF2B5EF4-FFF2-40B4-BE49-F238E27FC236}">
                <a16:creationId xmlns:a16="http://schemas.microsoft.com/office/drawing/2014/main" id="{52A8DD09-8FCA-4095-0A2E-51AC83DFF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32150"/>
            <a:ext cx="763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JRN</a:t>
            </a:r>
          </a:p>
        </p:txBody>
      </p:sp>
      <p:sp>
        <p:nvSpPr>
          <p:cNvPr id="64522" name="Text Box 13">
            <a:extLst>
              <a:ext uri="{FF2B5EF4-FFF2-40B4-BE49-F238E27FC236}">
                <a16:creationId xmlns:a16="http://schemas.microsoft.com/office/drawing/2014/main" id="{7B7382C0-A8B6-8639-12FC-9A03B63EB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4540250"/>
            <a:ext cx="1981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Last entry in db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4523" name="Oval 14">
            <a:extLst>
              <a:ext uri="{FF2B5EF4-FFF2-40B4-BE49-F238E27FC236}">
                <a16:creationId xmlns:a16="http://schemas.microsoft.com/office/drawing/2014/main" id="{E595F3A5-E366-769D-FB30-4352B77A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695700"/>
            <a:ext cx="1760538" cy="1217613"/>
          </a:xfrm>
          <a:prstGeom prst="ellipse">
            <a:avLst/>
          </a:prstGeom>
          <a:solidFill>
            <a:srgbClr val="B2B2B2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4524" name="Oval 15">
            <a:extLst>
              <a:ext uri="{FF2B5EF4-FFF2-40B4-BE49-F238E27FC236}">
                <a16:creationId xmlns:a16="http://schemas.microsoft.com/office/drawing/2014/main" id="{DB78E7D7-F825-F033-A8BC-163A3CF2A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37988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</p:txBody>
      </p:sp>
      <p:sp>
        <p:nvSpPr>
          <p:cNvPr id="64525" name="Oval 16">
            <a:extLst>
              <a:ext uri="{FF2B5EF4-FFF2-40B4-BE49-F238E27FC236}">
                <a16:creationId xmlns:a16="http://schemas.microsoft.com/office/drawing/2014/main" id="{DFEDDB96-7923-E312-3961-4C745EBF0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4084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4526" name="Oval 17">
            <a:extLst>
              <a:ext uri="{FF2B5EF4-FFF2-40B4-BE49-F238E27FC236}">
                <a16:creationId xmlns:a16="http://schemas.microsoft.com/office/drawing/2014/main" id="{415B683D-2B6F-BA03-29B8-E0A8B3008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9258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^d=4</a:t>
            </a:r>
          </a:p>
        </p:txBody>
      </p:sp>
      <p:sp>
        <p:nvSpPr>
          <p:cNvPr id="64527" name="Text Box 18">
            <a:extLst>
              <a:ext uri="{FF2B5EF4-FFF2-40B4-BE49-F238E27FC236}">
                <a16:creationId xmlns:a16="http://schemas.microsoft.com/office/drawing/2014/main" id="{4875C2B6-9C9D-882B-572C-F0754521F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2385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Global Buffers</a:t>
            </a:r>
          </a:p>
        </p:txBody>
      </p:sp>
      <p:sp>
        <p:nvSpPr>
          <p:cNvPr id="64528" name="Oval 20">
            <a:extLst>
              <a:ext uri="{FF2B5EF4-FFF2-40B4-BE49-F238E27FC236}">
                <a16:creationId xmlns:a16="http://schemas.microsoft.com/office/drawing/2014/main" id="{97A08A6C-AEEB-3C19-E878-D0F45A043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306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44B69717-7464-578B-04A0-5753BFC7771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279900"/>
            <a:ext cx="7335837" cy="1544638"/>
            <a:chOff x="295" y="2696"/>
            <a:chExt cx="4621" cy="973"/>
          </a:xfrm>
        </p:grpSpPr>
        <p:grpSp>
          <p:nvGrpSpPr>
            <p:cNvPr id="64539" name="Group 21">
              <a:extLst>
                <a:ext uri="{FF2B5EF4-FFF2-40B4-BE49-F238E27FC236}">
                  <a16:creationId xmlns:a16="http://schemas.microsoft.com/office/drawing/2014/main" id="{5CC3A684-F65C-C85C-FD4D-60CD47968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2696"/>
              <a:ext cx="3859" cy="824"/>
              <a:chOff x="583" y="2696"/>
              <a:chExt cx="3859" cy="824"/>
            </a:xfrm>
          </p:grpSpPr>
          <p:sp>
            <p:nvSpPr>
              <p:cNvPr id="64541" name="Text Box 22">
                <a:extLst>
                  <a:ext uri="{FF2B5EF4-FFF2-40B4-BE49-F238E27FC236}">
                    <a16:creationId xmlns:a16="http://schemas.microsoft.com/office/drawing/2014/main" id="{59E5EF76-012C-8F57-074D-23E090B28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" y="3308"/>
                <a:ext cx="7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66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EB1515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</a:rPr>
                  <a:t>set ^e=5</a:t>
                </a:r>
              </a:p>
            </p:txBody>
          </p:sp>
          <p:sp>
            <p:nvSpPr>
              <p:cNvPr id="64542" name="Text Box 23">
                <a:extLst>
                  <a:ext uri="{FF2B5EF4-FFF2-40B4-BE49-F238E27FC236}">
                    <a16:creationId xmlns:a16="http://schemas.microsoft.com/office/drawing/2014/main" id="{026FD3DC-80D9-AE82-02D1-FBC246AD36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8" y="2696"/>
                <a:ext cx="51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66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EB1515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</a:rPr>
                  <a:t>^e=5</a:t>
                </a:r>
              </a:p>
            </p:txBody>
          </p:sp>
        </p:grpSp>
        <p:sp>
          <p:nvSpPr>
            <p:cNvPr id="64540" name="Text Box 24">
              <a:extLst>
                <a:ext uri="{FF2B5EF4-FFF2-40B4-BE49-F238E27FC236}">
                  <a16:creationId xmlns:a16="http://schemas.microsoft.com/office/drawing/2014/main" id="{9E43EFEC-F552-B56F-0A7B-D8B89414A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456"/>
              <a:ext cx="11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chemeClr val="bg2"/>
                </a:solidFill>
              </a:endParaRPr>
            </a:p>
          </p:txBody>
        </p:sp>
      </p:grpSp>
      <p:sp>
        <p:nvSpPr>
          <p:cNvPr id="64530" name="Oval 15">
            <a:extLst>
              <a:ext uri="{FF2B5EF4-FFF2-40B4-BE49-F238E27FC236}">
                <a16:creationId xmlns:a16="http://schemas.microsoft.com/office/drawing/2014/main" id="{EE6C846D-9380-F6D7-ED73-07B7BB566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8768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</p:txBody>
      </p:sp>
      <p:sp>
        <p:nvSpPr>
          <p:cNvPr id="64531" name="Oval 17">
            <a:extLst>
              <a:ext uri="{FF2B5EF4-FFF2-40B4-BE49-F238E27FC236}">
                <a16:creationId xmlns:a16="http://schemas.microsoft.com/office/drawing/2014/main" id="{8B21B526-788A-FBD1-FCFC-19DE5C730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721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^d=4</a:t>
            </a:r>
          </a:p>
        </p:txBody>
      </p:sp>
      <p:sp>
        <p:nvSpPr>
          <p:cNvPr id="76823" name="Oval 15">
            <a:extLst>
              <a:ext uri="{FF2B5EF4-FFF2-40B4-BE49-F238E27FC236}">
                <a16:creationId xmlns:a16="http://schemas.microsoft.com/office/drawing/2014/main" id="{B229B098-42DF-A081-FEFF-1BCF6A0A3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53594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</p:txBody>
      </p:sp>
      <p:sp>
        <p:nvSpPr>
          <p:cNvPr id="64533" name="Oval 15">
            <a:extLst>
              <a:ext uri="{FF2B5EF4-FFF2-40B4-BE49-F238E27FC236}">
                <a16:creationId xmlns:a16="http://schemas.microsoft.com/office/drawing/2014/main" id="{9B167FDF-BBF9-A330-84E7-52EC8FF4D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48895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^a=1</a:t>
            </a:r>
          </a:p>
        </p:txBody>
      </p:sp>
      <p:sp>
        <p:nvSpPr>
          <p:cNvPr id="64534" name="Oval 15">
            <a:extLst>
              <a:ext uri="{FF2B5EF4-FFF2-40B4-BE49-F238E27FC236}">
                <a16:creationId xmlns:a16="http://schemas.microsoft.com/office/drawing/2014/main" id="{DF91FEF6-4AED-13E6-2498-0E7BF718E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800" y="48895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^b=2</a:t>
            </a:r>
          </a:p>
        </p:txBody>
      </p:sp>
      <p:sp>
        <p:nvSpPr>
          <p:cNvPr id="94214" name="Line 6">
            <a:extLst>
              <a:ext uri="{FF2B5EF4-FFF2-40B4-BE49-F238E27FC236}">
                <a16:creationId xmlns:a16="http://schemas.microsoft.com/office/drawing/2014/main" id="{DC12C046-CC58-873A-17D2-9B43E9687E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191000"/>
            <a:ext cx="2057400" cy="21336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  <p:sp>
        <p:nvSpPr>
          <p:cNvPr id="64536" name="Line 14">
            <a:extLst>
              <a:ext uri="{FF2B5EF4-FFF2-40B4-BE49-F238E27FC236}">
                <a16:creationId xmlns:a16="http://schemas.microsoft.com/office/drawing/2014/main" id="{0C872981-7399-27A5-0C4A-18A4EDDDCB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4217988"/>
            <a:ext cx="1611313" cy="0"/>
          </a:xfrm>
          <a:prstGeom prst="line">
            <a:avLst/>
          </a:prstGeom>
          <a:noFill/>
          <a:ln w="57150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38EAB799-5552-6202-64DD-7B075EED48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1800" y="4679950"/>
            <a:ext cx="1433513" cy="0"/>
          </a:xfrm>
          <a:prstGeom prst="line">
            <a:avLst/>
          </a:prstGeom>
          <a:noFill/>
          <a:ln w="57150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  <p:sp>
        <p:nvSpPr>
          <p:cNvPr id="35" name="Line 14">
            <a:extLst>
              <a:ext uri="{FF2B5EF4-FFF2-40B4-BE49-F238E27FC236}">
                <a16:creationId xmlns:a16="http://schemas.microsoft.com/office/drawing/2014/main" id="{12664EF1-0462-B134-83D7-F20366968E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0688" y="4953000"/>
            <a:ext cx="1433512" cy="0"/>
          </a:xfrm>
          <a:prstGeom prst="line">
            <a:avLst/>
          </a:prstGeom>
          <a:noFill/>
          <a:ln w="57150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9" name="Rectangle 7">
            <a:extLst>
              <a:ext uri="{FF2B5EF4-FFF2-40B4-BE49-F238E27FC236}">
                <a16:creationId xmlns:a16="http://schemas.microsoft.com/office/drawing/2014/main" id="{4C37FBB1-73F2-D76D-77BD-3DF4B0918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2451100"/>
            <a:ext cx="8331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en-US" altLang="en-US" sz="2000" b="0"/>
              <a:t>  Rolls back all open transactions from pointer in WIJ. </a:t>
            </a:r>
          </a:p>
          <a:p>
            <a:pPr lvl="1" eaLnBrk="1" hangingPunct="1"/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151554" name="Rectangle 2">
            <a:extLst>
              <a:ext uri="{FF2B5EF4-FFF2-40B4-BE49-F238E27FC236}">
                <a16:creationId xmlns:a16="http://schemas.microsoft.com/office/drawing/2014/main" id="{93F87E74-7E32-983C-F55A-88F510D6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2451100"/>
            <a:ext cx="8331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altLang="en-US" sz="2400" b="0"/>
              <a:t>  Database never left in inconsistent state.</a:t>
            </a:r>
          </a:p>
        </p:txBody>
      </p:sp>
      <p:sp>
        <p:nvSpPr>
          <p:cNvPr id="66563" name="Rectangle 4">
            <a:extLst>
              <a:ext uri="{FF2B5EF4-FFF2-40B4-BE49-F238E27FC236}">
                <a16:creationId xmlns:a16="http://schemas.microsoft.com/office/drawing/2014/main" id="{D14F04B9-0DFE-8227-95F0-81114FA78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Crash Resiliency (cont.)</a:t>
            </a:r>
          </a:p>
        </p:txBody>
      </p:sp>
      <p:sp>
        <p:nvSpPr>
          <p:cNvPr id="66564" name="Rectangle 5">
            <a:extLst>
              <a:ext uri="{FF2B5EF4-FFF2-40B4-BE49-F238E27FC236}">
                <a16:creationId xmlns:a16="http://schemas.microsoft.com/office/drawing/2014/main" id="{853E58DE-B1AC-84CD-C49E-7DE92E6F2E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Upon restart after crash, system automatically: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4A570352-8BA0-4675-0436-E08D15332B2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55600" y="1720850"/>
            <a:ext cx="8331200" cy="2286000"/>
          </a:xfrm>
        </p:spPr>
        <p:txBody>
          <a:bodyPr/>
          <a:lstStyle/>
          <a:p>
            <a:pPr lvl="1" eaLnBrk="1" hangingPunct="1"/>
            <a:r>
              <a:rPr lang="en-US" altLang="en-US"/>
              <a:t>Rolls forward WIJ.</a:t>
            </a:r>
          </a:p>
        </p:txBody>
      </p:sp>
      <p:sp>
        <p:nvSpPr>
          <p:cNvPr id="151558" name="Rectangle 6">
            <a:extLst>
              <a:ext uri="{FF2B5EF4-FFF2-40B4-BE49-F238E27FC236}">
                <a16:creationId xmlns:a16="http://schemas.microsoft.com/office/drawing/2014/main" id="{D9286C5D-7530-4A56-87C3-49B22A6E3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2089150"/>
            <a:ext cx="8331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en-US" altLang="en-US" sz="2000" b="0"/>
              <a:t>  Rolls forward journal from pointer in WIJ.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0"/>
          </a:p>
        </p:txBody>
      </p:sp>
      <p:sp>
        <p:nvSpPr>
          <p:cNvPr id="66567" name="AutoShape 8">
            <a:extLst>
              <a:ext uri="{FF2B5EF4-FFF2-40B4-BE49-F238E27FC236}">
                <a16:creationId xmlns:a16="http://schemas.microsoft.com/office/drawing/2014/main" id="{4039CA27-2D88-557B-2F72-C3A3D067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114800"/>
            <a:ext cx="1676400" cy="2133600"/>
          </a:xfrm>
          <a:prstGeom prst="flowChartMagneticDisk">
            <a:avLst/>
          </a:prstGeom>
          <a:solidFill>
            <a:srgbClr val="B2B2B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tIns="0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</a:t>
            </a:r>
          </a:p>
        </p:txBody>
      </p:sp>
      <p:sp>
        <p:nvSpPr>
          <p:cNvPr id="66568" name="AutoShape 10">
            <a:extLst>
              <a:ext uri="{FF2B5EF4-FFF2-40B4-BE49-F238E27FC236}">
                <a16:creationId xmlns:a16="http://schemas.microsoft.com/office/drawing/2014/main" id="{926A8C6E-1E62-B72E-1B75-08CD52B89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3757613"/>
            <a:ext cx="1770062" cy="2370137"/>
          </a:xfrm>
          <a:prstGeom prst="flowChartProcess">
            <a:avLst/>
          </a:prstGeom>
          <a:solidFill>
            <a:srgbClr val="B2B2B2"/>
          </a:solidFill>
          <a:ln w="635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TSTART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^a=1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^b=2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^c=3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^d=4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66569" name="AutoShape 11">
            <a:extLst>
              <a:ext uri="{FF2B5EF4-FFF2-40B4-BE49-F238E27FC236}">
                <a16:creationId xmlns:a16="http://schemas.microsoft.com/office/drawing/2014/main" id="{39AF6CD5-42E0-59CD-454D-412521878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3765550"/>
            <a:ext cx="2043113" cy="22860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0" name="Text Box 13">
            <a:extLst>
              <a:ext uri="{FF2B5EF4-FFF2-40B4-BE49-F238E27FC236}">
                <a16:creationId xmlns:a16="http://schemas.microsoft.com/office/drawing/2014/main" id="{251B513D-F7EB-AF0E-5FE9-80CDE3497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038600"/>
            <a:ext cx="19145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Oldest open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transaction</a:t>
            </a:r>
          </a:p>
        </p:txBody>
      </p:sp>
      <p:sp>
        <p:nvSpPr>
          <p:cNvPr id="66571" name="Text Box 14">
            <a:extLst>
              <a:ext uri="{FF2B5EF4-FFF2-40B4-BE49-F238E27FC236}">
                <a16:creationId xmlns:a16="http://schemas.microsoft.com/office/drawing/2014/main" id="{480631B6-52E6-1A1B-BC3E-3A74F3F8A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251200"/>
            <a:ext cx="75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WIJ</a:t>
            </a:r>
          </a:p>
        </p:txBody>
      </p:sp>
      <p:sp>
        <p:nvSpPr>
          <p:cNvPr id="66572" name="Text Box 15">
            <a:extLst>
              <a:ext uri="{FF2B5EF4-FFF2-40B4-BE49-F238E27FC236}">
                <a16:creationId xmlns:a16="http://schemas.microsoft.com/office/drawing/2014/main" id="{A5EE6C2B-D0FD-8695-2F7F-249F48244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838" y="3232150"/>
            <a:ext cx="763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JRN</a:t>
            </a:r>
          </a:p>
        </p:txBody>
      </p:sp>
      <p:sp>
        <p:nvSpPr>
          <p:cNvPr id="66573" name="Text Box 16">
            <a:extLst>
              <a:ext uri="{FF2B5EF4-FFF2-40B4-BE49-F238E27FC236}">
                <a16:creationId xmlns:a16="http://schemas.microsoft.com/office/drawing/2014/main" id="{369FE8F3-4D89-D759-9F2E-56EBDDEB6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4540250"/>
            <a:ext cx="19812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Last entry in db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^d=4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4" name="Oval 17">
            <a:extLst>
              <a:ext uri="{FF2B5EF4-FFF2-40B4-BE49-F238E27FC236}">
                <a16:creationId xmlns:a16="http://schemas.microsoft.com/office/drawing/2014/main" id="{3089B4BA-5071-605D-1986-D32512B3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695700"/>
            <a:ext cx="1760538" cy="1217613"/>
          </a:xfrm>
          <a:prstGeom prst="ellipse">
            <a:avLst/>
          </a:prstGeom>
          <a:solidFill>
            <a:srgbClr val="B2B2B2"/>
          </a:solidFill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5" name="Oval 18">
            <a:extLst>
              <a:ext uri="{FF2B5EF4-FFF2-40B4-BE49-F238E27FC236}">
                <a16:creationId xmlns:a16="http://schemas.microsoft.com/office/drawing/2014/main" id="{EC85CE60-7358-6376-274E-A055F79CD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37988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6" name="Oval 19">
            <a:extLst>
              <a:ext uri="{FF2B5EF4-FFF2-40B4-BE49-F238E27FC236}">
                <a16:creationId xmlns:a16="http://schemas.microsoft.com/office/drawing/2014/main" id="{B0FF394C-1907-0575-A6A2-4485AFAA8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44084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7" name="Oval 20">
            <a:extLst>
              <a:ext uri="{FF2B5EF4-FFF2-40B4-BE49-F238E27FC236}">
                <a16:creationId xmlns:a16="http://schemas.microsoft.com/office/drawing/2014/main" id="{17771C00-A516-85ED-5F3B-889FC686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9258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8" name="Oval 22">
            <a:extLst>
              <a:ext uri="{FF2B5EF4-FFF2-40B4-BE49-F238E27FC236}">
                <a16:creationId xmlns:a16="http://schemas.microsoft.com/office/drawing/2014/main" id="{5096D0F8-591A-4092-9FA1-D4263F33D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4230688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66579" name="Text Box 23">
            <a:extLst>
              <a:ext uri="{FF2B5EF4-FFF2-40B4-BE49-F238E27FC236}">
                <a16:creationId xmlns:a16="http://schemas.microsoft.com/office/drawing/2014/main" id="{D757B412-BB6F-DC69-9C45-B3A03ABF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51450"/>
            <a:ext cx="1233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set ^e=5</a:t>
            </a:r>
          </a:p>
        </p:txBody>
      </p:sp>
      <p:sp>
        <p:nvSpPr>
          <p:cNvPr id="66580" name="Text Box 24">
            <a:extLst>
              <a:ext uri="{FF2B5EF4-FFF2-40B4-BE49-F238E27FC236}">
                <a16:creationId xmlns:a16="http://schemas.microsoft.com/office/drawing/2014/main" id="{2D9ED024-5824-4B03-154B-AEA5F473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225" y="32385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Global Buffers</a:t>
            </a:r>
          </a:p>
        </p:txBody>
      </p:sp>
      <p:sp>
        <p:nvSpPr>
          <p:cNvPr id="66581" name="Rectangle 26">
            <a:extLst>
              <a:ext uri="{FF2B5EF4-FFF2-40B4-BE49-F238E27FC236}">
                <a16:creationId xmlns:a16="http://schemas.microsoft.com/office/drawing/2014/main" id="{2ABE19BC-8CBD-4428-639A-3A78F2DA1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953000"/>
            <a:ext cx="990600" cy="60960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9330673C-6BDF-01F1-7A56-5608F610DD63}"/>
              </a:ext>
            </a:extLst>
          </p:cNvPr>
          <p:cNvGrpSpPr>
            <a:grpSpLocks/>
          </p:cNvGrpSpPr>
          <p:nvPr/>
        </p:nvGrpSpPr>
        <p:grpSpPr bwMode="auto">
          <a:xfrm>
            <a:off x="7540625" y="5765800"/>
            <a:ext cx="815975" cy="419100"/>
            <a:chOff x="6629400" y="7772400"/>
            <a:chExt cx="815975" cy="419100"/>
          </a:xfrm>
        </p:grpSpPr>
        <p:sp>
          <p:nvSpPr>
            <p:cNvPr id="66598" name="Oval 22">
              <a:extLst>
                <a:ext uri="{FF2B5EF4-FFF2-40B4-BE49-F238E27FC236}">
                  <a16:creationId xmlns:a16="http://schemas.microsoft.com/office/drawing/2014/main" id="{87CE1446-3DC3-DE0B-506E-66D5BF65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7772400"/>
              <a:ext cx="685800" cy="419100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66599" name="Text Box 28">
              <a:extLst>
                <a:ext uri="{FF2B5EF4-FFF2-40B4-BE49-F238E27FC236}">
                  <a16:creationId xmlns:a16="http://schemas.microsoft.com/office/drawing/2014/main" id="{16AC8C06-DA35-578D-4725-1F226280A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7772400"/>
              <a:ext cx="815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bg2"/>
                  </a:solidFill>
                </a:rPr>
                <a:t>^e=5</a:t>
              </a:r>
            </a:p>
          </p:txBody>
        </p:sp>
      </p:grpSp>
      <p:sp>
        <p:nvSpPr>
          <p:cNvPr id="66583" name="Oval 15">
            <a:extLst>
              <a:ext uri="{FF2B5EF4-FFF2-40B4-BE49-F238E27FC236}">
                <a16:creationId xmlns:a16="http://schemas.microsoft.com/office/drawing/2014/main" id="{3D5CC7B4-B9FB-7E6C-53D8-2E68FB45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53594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</p:txBody>
      </p:sp>
      <p:sp>
        <p:nvSpPr>
          <p:cNvPr id="66584" name="Oval 15">
            <a:extLst>
              <a:ext uri="{FF2B5EF4-FFF2-40B4-BE49-F238E27FC236}">
                <a16:creationId xmlns:a16="http://schemas.microsoft.com/office/drawing/2014/main" id="{37B2FF10-78B4-D6F5-4F78-E1B11983F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700" y="48895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^a=1</a:t>
            </a:r>
          </a:p>
        </p:txBody>
      </p:sp>
      <p:sp>
        <p:nvSpPr>
          <p:cNvPr id="66585" name="Oval 15">
            <a:extLst>
              <a:ext uri="{FF2B5EF4-FFF2-40B4-BE49-F238E27FC236}">
                <a16:creationId xmlns:a16="http://schemas.microsoft.com/office/drawing/2014/main" id="{D0A65F99-E171-E9F7-8D39-10D8A80E2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800" y="48895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^b=2</a:t>
            </a:r>
          </a:p>
        </p:txBody>
      </p:sp>
      <p:sp>
        <p:nvSpPr>
          <p:cNvPr id="66586" name="Oval 15">
            <a:extLst>
              <a:ext uri="{FF2B5EF4-FFF2-40B4-BE49-F238E27FC236}">
                <a16:creationId xmlns:a16="http://schemas.microsoft.com/office/drawing/2014/main" id="{32B696BE-E3B9-B26E-4E82-32CBA509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8768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^c=3</a:t>
            </a:r>
          </a:p>
        </p:txBody>
      </p:sp>
      <p:sp>
        <p:nvSpPr>
          <p:cNvPr id="66587" name="Oval 17">
            <a:extLst>
              <a:ext uri="{FF2B5EF4-FFF2-40B4-BE49-F238E27FC236}">
                <a16:creationId xmlns:a16="http://schemas.microsoft.com/office/drawing/2014/main" id="{0D7D7792-636E-2B9B-5F94-02183CFA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72100"/>
            <a:ext cx="685800" cy="4191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1"/>
              </a:buClr>
              <a:buSzPct val="60000"/>
              <a:buFont typeface="Wingdings" pitchFamily="2" charset="2"/>
              <a:buChar char="n"/>
              <a:defRPr sz="28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FF66"/>
              </a:buClr>
              <a:buSzPct val="55000"/>
              <a:buFont typeface="Wingdings" pitchFamily="2" charset="2"/>
              <a:buChar char="n"/>
              <a:defRPr sz="24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B1515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rgbClr val="FFFF66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^d=4</a:t>
            </a:r>
          </a:p>
        </p:txBody>
      </p:sp>
      <p:grpSp>
        <p:nvGrpSpPr>
          <p:cNvPr id="3" name="Group 39">
            <a:extLst>
              <a:ext uri="{FF2B5EF4-FFF2-40B4-BE49-F238E27FC236}">
                <a16:creationId xmlns:a16="http://schemas.microsoft.com/office/drawing/2014/main" id="{4A3B9064-186B-6EB5-F40B-4E0E8310921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864100"/>
            <a:ext cx="5270500" cy="990600"/>
            <a:chOff x="3505200" y="4864100"/>
            <a:chExt cx="5270500" cy="990600"/>
          </a:xfrm>
        </p:grpSpPr>
        <p:grpSp>
          <p:nvGrpSpPr>
            <p:cNvPr id="66594" name="Group 34">
              <a:extLst>
                <a:ext uri="{FF2B5EF4-FFF2-40B4-BE49-F238E27FC236}">
                  <a16:creationId xmlns:a16="http://schemas.microsoft.com/office/drawing/2014/main" id="{82A64F3B-494F-110E-B39E-C71519414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51787" y="5156200"/>
              <a:ext cx="823913" cy="647700"/>
              <a:chOff x="7772400" y="7772400"/>
              <a:chExt cx="823913" cy="647700"/>
            </a:xfrm>
          </p:grpSpPr>
          <p:sp>
            <p:nvSpPr>
              <p:cNvPr id="66596" name="Oval 22">
                <a:extLst>
                  <a:ext uri="{FF2B5EF4-FFF2-40B4-BE49-F238E27FC236}">
                    <a16:creationId xmlns:a16="http://schemas.microsoft.com/office/drawing/2014/main" id="{3ED2C34C-ED1B-E982-2C56-6525BA6BA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8001000"/>
                <a:ext cx="685800" cy="419100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66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EB1515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solidFill>
                    <a:schemeClr val="bg2"/>
                  </a:solidFill>
                </a:endParaRPr>
              </a:p>
            </p:txBody>
          </p:sp>
          <p:sp>
            <p:nvSpPr>
              <p:cNvPr id="66597" name="Text Box 27">
                <a:extLst>
                  <a:ext uri="{FF2B5EF4-FFF2-40B4-BE49-F238E27FC236}">
                    <a16:creationId xmlns:a16="http://schemas.microsoft.com/office/drawing/2014/main" id="{406527C0-F1D1-FCD6-8F30-15F935798D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2400" y="7772400"/>
                <a:ext cx="823913" cy="581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66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EB1515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rgbClr val="FFFF66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solidFill>
                    <a:schemeClr val="bg2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</a:rPr>
                  <a:t>^d=4</a:t>
                </a:r>
              </a:p>
            </p:txBody>
          </p:sp>
        </p:grpSp>
        <p:sp>
          <p:nvSpPr>
            <p:cNvPr id="66595" name="Rectangle 29">
              <a:extLst>
                <a:ext uri="{FF2B5EF4-FFF2-40B4-BE49-F238E27FC236}">
                  <a16:creationId xmlns:a16="http://schemas.microsoft.com/office/drawing/2014/main" id="{0A3F11C5-3FC6-22D9-B03E-F7B3207A3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4864100"/>
              <a:ext cx="1219200" cy="9906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41">
            <a:extLst>
              <a:ext uri="{FF2B5EF4-FFF2-40B4-BE49-F238E27FC236}">
                <a16:creationId xmlns:a16="http://schemas.microsoft.com/office/drawing/2014/main" id="{4929FEEB-52E1-2B92-B46C-43EDE7EFE531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876800"/>
            <a:ext cx="1524000" cy="1320800"/>
            <a:chOff x="7239000" y="4876800"/>
            <a:chExt cx="1524000" cy="1320800"/>
          </a:xfrm>
        </p:grpSpPr>
        <p:sp>
          <p:nvSpPr>
            <p:cNvPr id="66592" name="Rectangle 29">
              <a:extLst>
                <a:ext uri="{FF2B5EF4-FFF2-40B4-BE49-F238E27FC236}">
                  <a16:creationId xmlns:a16="http://schemas.microsoft.com/office/drawing/2014/main" id="{AC85944B-C6B4-97E0-41DA-D18C10494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876800"/>
              <a:ext cx="1524000" cy="10668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6593" name="Rectangle 29">
              <a:extLst>
                <a:ext uri="{FF2B5EF4-FFF2-40B4-BE49-F238E27FC236}">
                  <a16:creationId xmlns:a16="http://schemas.microsoft.com/office/drawing/2014/main" id="{ABDFE8C8-7189-9467-47F9-FEBB0FFA5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4600" y="5588000"/>
              <a:ext cx="762000" cy="6096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0000"/>
                <a:buFont typeface="Wingdings" pitchFamily="2" charset="2"/>
                <a:buChar char="n"/>
                <a:defRPr sz="28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FF66"/>
                </a:buClr>
                <a:buSzPct val="55000"/>
                <a:buFont typeface="Wingdings" pitchFamily="2" charset="2"/>
                <a:buChar char="n"/>
                <a:defRPr sz="24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EB1515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rgbClr val="FFFF66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66590" name="Line 14">
            <a:extLst>
              <a:ext uri="{FF2B5EF4-FFF2-40B4-BE49-F238E27FC236}">
                <a16:creationId xmlns:a16="http://schemas.microsoft.com/office/drawing/2014/main" id="{C766E050-D921-6103-0EFE-BEBBE7BEFA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1800" y="4953000"/>
            <a:ext cx="1433513" cy="0"/>
          </a:xfrm>
          <a:prstGeom prst="line">
            <a:avLst/>
          </a:prstGeom>
          <a:noFill/>
          <a:ln w="57150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  <p:sp>
        <p:nvSpPr>
          <p:cNvPr id="66591" name="Line 14">
            <a:extLst>
              <a:ext uri="{FF2B5EF4-FFF2-40B4-BE49-F238E27FC236}">
                <a16:creationId xmlns:a16="http://schemas.microsoft.com/office/drawing/2014/main" id="{55336162-15DC-C379-20F5-611B8DFCD8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191000"/>
            <a:ext cx="1611313" cy="0"/>
          </a:xfrm>
          <a:prstGeom prst="line">
            <a:avLst/>
          </a:prstGeom>
          <a:noFill/>
          <a:ln w="57150">
            <a:solidFill>
              <a:schemeClr val="accent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9" grpId="0" autoUpdateAnimBg="0"/>
      <p:bldP spid="151554" grpId="0" autoUpdateAnimBg="0"/>
      <p:bldP spid="151555" grpId="0" autoUpdateAnimBg="0"/>
      <p:bldP spid="151558" grpId="0" autoUpdateAnimBg="0"/>
    </p:bldLst>
  </p:timing>
</p:sld>
</file>

<file path=ppt/theme/theme1.xml><?xml version="1.0" encoding="utf-8"?>
<a:theme xmlns:a="http://schemas.openxmlformats.org/drawingml/2006/main" name="LS Theme Adjusted">
  <a:themeElements>
    <a:clrScheme name="Custom 1">
      <a:dk1>
        <a:srgbClr val="FFFFFF"/>
      </a:dk1>
      <a:lt1>
        <a:srgbClr val="FFFFFF"/>
      </a:lt1>
      <a:dk2>
        <a:srgbClr val="DDDDDD"/>
      </a:dk2>
      <a:lt2>
        <a:srgbClr val="1C1C1C"/>
      </a:lt2>
      <a:accent1>
        <a:srgbClr val="FF0000"/>
      </a:accent1>
      <a:accent2>
        <a:srgbClr val="FFCF01"/>
      </a:accent2>
      <a:accent3>
        <a:srgbClr val="FFFFFF"/>
      </a:accent3>
      <a:accent4>
        <a:srgbClr val="DADADA"/>
      </a:accent4>
      <a:accent5>
        <a:srgbClr val="FFAAAA"/>
      </a:accent5>
      <a:accent6>
        <a:srgbClr val="E7BB01"/>
      </a:accent6>
      <a:hlink>
        <a:srgbClr val="FFFF66"/>
      </a:hlink>
      <a:folHlink>
        <a:srgbClr val="FFFF66"/>
      </a:folHlink>
    </a:clrScheme>
    <a:fontScheme name="LearningServices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arningServices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arningServices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arningServices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arningServices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arningServices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arningServices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arningServices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S Theme Adjusted" id="{726799E7-DFF7-4CDC-A199-30B3BACAEB5F}" vid="{6796CCA8-B0D1-4984-A566-F71B455BA52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830437a-0f49-40b8-9dee-9e7397f04915}" enabled="1" method="Standard" siteId="{74abaa74-2829-4279-b25c-5743687b0bf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LS Theme Adjusted</Template>
  <TotalTime>7917</TotalTime>
  <Words>234</Words>
  <Application>Microsoft Macintosh PowerPoint</Application>
  <PresentationFormat>On-screen Show (4:3)</PresentationFormat>
  <Paragraphs>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Verdana</vt:lpstr>
      <vt:lpstr>Wingdings</vt:lpstr>
      <vt:lpstr>LS Theme Adjusted</vt:lpstr>
      <vt:lpstr>Journaling</vt:lpstr>
      <vt:lpstr>Crash Resiliency</vt:lpstr>
      <vt:lpstr>Crash Resiliency (cont.)</vt:lpstr>
    </vt:vector>
  </TitlesOfParts>
  <Company>InterSystrems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Journaling</dc:title>
  <dc:creator/>
  <cp:lastModifiedBy>Qiao Peng</cp:lastModifiedBy>
  <cp:revision>440</cp:revision>
  <dcterms:created xsi:type="dcterms:W3CDTF">2012-03-29T16:22:57Z</dcterms:created>
  <dcterms:modified xsi:type="dcterms:W3CDTF">2026-06-12T06:32:42Z</dcterms:modified>
</cp:coreProperties>
</file>