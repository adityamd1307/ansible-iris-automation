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9144000" cy="6858000" type="screen4x3"/>
  <p:notesSz cx="7008813" cy="9294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817" autoAdjust="0"/>
  </p:normalViewPr>
  <p:slideViewPr>
    <p:cSldViewPr snapToGrid="0">
      <p:cViewPr varScale="1">
        <p:scale>
          <a:sx n="62" d="100"/>
          <a:sy n="62" d="100"/>
        </p:scale>
        <p:origin x="2050" y="62"/>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p:nvSpPr>
        <p:spPr>
          <a:xfrm>
            <a:off x="0" y="0"/>
            <a:ext cx="7009200" cy="9295200"/>
          </a:xfrm>
          <a:prstGeom prst="rect">
            <a:avLst/>
          </a:prstGeom>
          <a:solidFill>
            <a:srgbClr val="FFFFFF"/>
          </a:solidFill>
          <a:ln w="0">
            <a:noFill/>
          </a:ln>
        </p:spPr>
        <p:txBody>
          <a:bodyPr lIns="90000" tIns="45000" rIns="90000" bIns="45000" anchor="ctr" anchorCtr="1">
            <a:noAutofit/>
          </a:bodyPr>
          <a:lstStyle/>
          <a:p>
            <a:endParaRPr lang="en-US" sz="2400" b="1" strike="noStrike" spc="-1">
              <a:solidFill>
                <a:srgbClr val="FFFFFF"/>
              </a:solidFill>
              <a:latin typeface="Verdana"/>
            </a:endParaRPr>
          </a:p>
        </p:txBody>
      </p:sp>
      <p:sp>
        <p:nvSpPr>
          <p:cNvPr id="13" name="PlaceHolder 1"/>
          <p:cNvSpPr>
            <a:spLocks noGrp="1"/>
          </p:cNvSpPr>
          <p:nvPr>
            <p:ph type="sldNum" idx="1"/>
          </p:nvPr>
        </p:nvSpPr>
        <p:spPr>
          <a:xfrm>
            <a:off x="1979640" y="8831160"/>
            <a:ext cx="3038400" cy="465120"/>
          </a:xfrm>
          <a:prstGeom prst="rect">
            <a:avLst/>
          </a:prstGeom>
          <a:noFill/>
          <a:ln w="0">
            <a:noFill/>
          </a:ln>
        </p:spPr>
        <p:txBody>
          <a:bodyPr lIns="93240" tIns="46440" rIns="93240" bIns="46440" anchor="b">
            <a:noAutofit/>
          </a:bodyPr>
          <a:lstStyle>
            <a:lvl1pPr marL="216000"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000000"/>
                </a:solidFill>
                <a:latin typeface="Times New Roman"/>
              </a:defRPr>
            </a:lvl1pPr>
          </a:lstStyle>
          <a:p>
            <a:pPr marL="216000"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38268A-3926-4455-A5DD-FE0B86874C7F}" type="slidenum">
              <a:rPr lang="en-US" sz="1200" b="0" strike="noStrike" spc="-1">
                <a:solidFill>
                  <a:srgbClr val="000000"/>
                </a:solidFill>
                <a:latin typeface="Times New Roman"/>
              </a:rPr>
              <a:t>‹#›</a:t>
            </a:fld>
            <a:endParaRPr lang="en-US" sz="1200" b="0" strike="noStrike" spc="-1">
              <a:solidFill>
                <a:srgbClr val="000000"/>
              </a:solidFill>
              <a:latin typeface="Times New Roman"/>
            </a:endParaRPr>
          </a:p>
        </p:txBody>
      </p:sp>
      <p:sp>
        <p:nvSpPr>
          <p:cNvPr id="14" name="PlaceHolder 2"/>
          <p:cNvSpPr>
            <a:spLocks noGrp="1"/>
          </p:cNvSpPr>
          <p:nvPr>
            <p:ph type="hdr"/>
          </p:nvPr>
        </p:nvSpPr>
        <p:spPr>
          <a:xfrm>
            <a:off x="1986120" y="0"/>
            <a:ext cx="3038400" cy="465120"/>
          </a:xfrm>
          <a:prstGeom prst="rect">
            <a:avLst/>
          </a:prstGeom>
          <a:noFill/>
          <a:ln w="0">
            <a:noFill/>
          </a:ln>
        </p:spPr>
        <p:txBody>
          <a:bodyPr lIns="93240" tIns="46440" rIns="93240" bIns="46440" anchor="t">
            <a:noAutofit/>
          </a:bodyPr>
          <a:lstStyle/>
          <a:p>
            <a:pPr marL="216000"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000000"/>
                </a:solidFill>
                <a:latin typeface="Times New Roman"/>
              </a:rPr>
              <a:t>Backup</a:t>
            </a:r>
          </a:p>
        </p:txBody>
      </p:sp>
      <p:sp>
        <p:nvSpPr>
          <p:cNvPr id="15" name="PlaceHolder 3"/>
          <p:cNvSpPr>
            <a:spLocks noGrp="1" noRot="1" noChangeAspect="1"/>
          </p:cNvSpPr>
          <p:nvPr>
            <p:ph type="sldImg"/>
          </p:nvPr>
        </p:nvSpPr>
        <p:spPr>
          <a:xfrm>
            <a:off x="1181160" y="696960"/>
            <a:ext cx="4648320" cy="3486240"/>
          </a:xfrm>
          <a:prstGeom prst="rect">
            <a:avLst/>
          </a:prstGeom>
          <a:noFill/>
          <a:ln w="9360">
            <a:solidFill>
              <a:srgbClr val="000000"/>
            </a:solidFill>
            <a:miter/>
          </a:ln>
        </p:spPr>
        <p:txBody>
          <a:bodyPr lIns="93240" tIns="46440" rIns="93240" bIns="4644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Click to move the slide</a:t>
            </a:r>
          </a:p>
        </p:txBody>
      </p:sp>
      <p:sp>
        <p:nvSpPr>
          <p:cNvPr id="16" name="PlaceHolder 4"/>
          <p:cNvSpPr>
            <a:spLocks noGrp="1"/>
          </p:cNvSpPr>
          <p:nvPr>
            <p:ph type="body"/>
          </p:nvPr>
        </p:nvSpPr>
        <p:spPr>
          <a:xfrm>
            <a:off x="934560" y="4416120"/>
            <a:ext cx="5140440" cy="4182840"/>
          </a:xfrm>
          <a:prstGeom prst="rect">
            <a:avLst/>
          </a:prstGeom>
          <a:noFill/>
          <a:ln w="0">
            <a:noFill/>
          </a:ln>
        </p:spPr>
        <p:txBody>
          <a:bodyPr lIns="93240" tIns="46440" rIns="93240" bIns="46440" anchor="t">
            <a:noAutofit/>
          </a:bodyPr>
          <a:lstStyle/>
          <a:p>
            <a:pPr indent="0">
              <a:spcBef>
                <a:spcPts val="374"/>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strike="noStrike" spc="-1">
                <a:solidFill>
                  <a:srgbClr val="000000"/>
                </a:solidFill>
                <a:latin typeface="Verdana"/>
              </a:rPr>
              <a:t>Click to edit the notes format</a:t>
            </a:r>
          </a:p>
        </p:txBody>
      </p:sp>
      <p:sp>
        <p:nvSpPr>
          <p:cNvPr id="17" name="PlaceHolder 5"/>
          <p:cNvSpPr>
            <a:spLocks noGrp="1"/>
          </p:cNvSpPr>
          <p:nvPr>
            <p:ph type="ftr" idx="2"/>
          </p:nvPr>
        </p:nvSpPr>
        <p:spPr>
          <a:xfrm>
            <a:off x="1986120" y="8831160"/>
            <a:ext cx="3038400" cy="465120"/>
          </a:xfrm>
          <a:prstGeom prst="rect">
            <a:avLst/>
          </a:prstGeom>
          <a:noFill/>
          <a:ln w="0">
            <a:noFill/>
          </a:ln>
        </p:spPr>
        <p:txBody>
          <a:bodyPr lIns="93240" tIns="46440" rIns="93240" bIns="46440" anchor="b">
            <a:noAutofit/>
          </a:bodyPr>
          <a:lstStyle/>
          <a:p>
            <a:pPr indent="0">
              <a:buNone/>
            </a:pPr>
            <a:endParaRPr lang="en-US" sz="2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60" name="PlaceHolder 1"/>
          <p:cNvSpPr>
            <a:spLocks noGrp="1" noRot="1" noChangeAspect="1"/>
          </p:cNvSpPr>
          <p:nvPr>
            <p:ph type="sldImg"/>
          </p:nvPr>
        </p:nvSpPr>
        <p:spPr>
          <a:xfrm>
            <a:off x="1181100" y="696913"/>
            <a:ext cx="4648200" cy="3486150"/>
          </a:xfrm>
          <a:prstGeom prst="rect">
            <a:avLst/>
          </a:prstGeom>
          <a:ln w="0">
            <a:noFill/>
          </a:ln>
        </p:spPr>
      </p:sp>
      <p:sp>
        <p:nvSpPr>
          <p:cNvPr id="161"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endParaRPr lang="en-US" sz="1000" b="0" strike="noStrike" spc="-1" dirty="0">
              <a:solidFill>
                <a:srgbClr val="000000"/>
              </a:solidFill>
              <a:latin typeface="Verdana"/>
            </a:endParaRPr>
          </a:p>
        </p:txBody>
      </p:sp>
      <p:sp>
        <p:nvSpPr>
          <p:cNvPr id="16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2D365DD-1169-4100-96F2-1C39969D42D2}" type="slidenum">
              <a:rPr lang="en-US" sz="1200" b="0" strike="noStrike" spc="-1">
                <a:solidFill>
                  <a:srgbClr val="FFFFFF"/>
                </a:solidFill>
                <a:latin typeface="Verdana"/>
              </a:rPr>
              <a:t>1</a:t>
            </a:fld>
            <a:endParaRPr lang="en-US" sz="1200" b="1" strike="noStrike" spc="-1">
              <a:solidFill>
                <a:srgbClr val="FFFFFF"/>
              </a:solidFill>
              <a:latin typeface="Verdan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64" name="PlaceHolder 1"/>
          <p:cNvSpPr>
            <a:spLocks noGrp="1" noRot="1" noChangeAspect="1"/>
          </p:cNvSpPr>
          <p:nvPr>
            <p:ph type="sldImg"/>
          </p:nvPr>
        </p:nvSpPr>
        <p:spPr>
          <a:xfrm>
            <a:off x="1181100" y="696913"/>
            <a:ext cx="4648200" cy="3486150"/>
          </a:xfrm>
          <a:prstGeom prst="rect">
            <a:avLst/>
          </a:prstGeom>
          <a:ln w="0">
            <a:noFill/>
          </a:ln>
        </p:spPr>
      </p:sp>
      <p:sp>
        <p:nvSpPr>
          <p:cNvPr id="16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There are two main backup approaches: </a:t>
            </a:r>
          </a:p>
          <a:p>
            <a:pPr marL="228600" indent="-228600">
              <a:spcBef>
                <a:spcPts val="374"/>
              </a:spcBef>
              <a:buAutoNum type="arabicPeriod"/>
            </a:pPr>
            <a:r>
              <a:rPr lang="en-US" sz="1000" b="0" strike="noStrike" spc="-1" dirty="0">
                <a:solidFill>
                  <a:srgbClr val="000000"/>
                </a:solidFill>
                <a:latin typeface="Verdana"/>
              </a:rPr>
              <a:t>external backup (using third-party OS-level </a:t>
            </a:r>
            <a:r>
              <a:rPr lang="en-US" sz="1000" b="0" strike="noStrike" spc="-1">
                <a:solidFill>
                  <a:srgbClr val="000000"/>
                </a:solidFill>
                <a:latin typeface="Verdana"/>
              </a:rPr>
              <a:t>tools) </a:t>
            </a:r>
            <a:endParaRPr lang="en-US" sz="1000" b="0" strike="noStrike" spc="-1" dirty="0">
              <a:solidFill>
                <a:srgbClr val="000000"/>
              </a:solidFill>
              <a:latin typeface="Verdana"/>
            </a:endParaRPr>
          </a:p>
          <a:p>
            <a:pPr marL="228600" indent="-228600">
              <a:spcBef>
                <a:spcPts val="374"/>
              </a:spcBef>
              <a:buAutoNum type="arabicPeriod"/>
            </a:pPr>
            <a:r>
              <a:rPr lang="en-US" sz="1000" b="0" strike="noStrike" spc="-1" dirty="0">
                <a:solidFill>
                  <a:srgbClr val="000000"/>
                </a:solidFill>
                <a:latin typeface="Verdana"/>
              </a:rPr>
              <a:t>online backup (using IRIS's built-in mechanism). </a:t>
            </a:r>
          </a:p>
        </p:txBody>
      </p:sp>
      <p:sp>
        <p:nvSpPr>
          <p:cNvPr id="16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5CDB5DB-DCFB-4B38-8E27-4210F12EF1C2}" type="slidenum">
              <a:rPr lang="en-US" sz="1200" b="0" strike="noStrike" spc="-1">
                <a:solidFill>
                  <a:srgbClr val="FFFFFF"/>
                </a:solidFill>
                <a:latin typeface="Verdana"/>
              </a:rPr>
              <a:t>2</a:t>
            </a:fld>
            <a:endParaRPr lang="en-US" sz="1200" b="1" strike="noStrike" spc="-1">
              <a:solidFill>
                <a:srgbClr val="FFFFFF"/>
              </a:solidFill>
              <a:latin typeface="Verdan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68" name="PlaceHolder 1"/>
          <p:cNvSpPr>
            <a:spLocks noGrp="1" noRot="1" noChangeAspect="1"/>
          </p:cNvSpPr>
          <p:nvPr>
            <p:ph type="sldImg"/>
          </p:nvPr>
        </p:nvSpPr>
        <p:spPr>
          <a:xfrm>
            <a:off x="1181100" y="696913"/>
            <a:ext cx="4648200" cy="3486150"/>
          </a:xfrm>
          <a:prstGeom prst="rect">
            <a:avLst/>
          </a:prstGeom>
          <a:ln w="0">
            <a:noFill/>
          </a:ln>
        </p:spPr>
      </p:sp>
      <p:sp>
        <p:nvSpPr>
          <p:cNvPr id="169"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This slide lists everything that should be included in a comprehensive backup strategy. It is not enough to just back up databases — journal files capture all changes to the database in real time, so they are essential for point-in-time recovery. The WIJ (Write Image Journal) is also important as it supports crash recovery. Any external files your application relies on should also be included. If any of these components are stored outside the installation directory, they must be explicitly included.</a:t>
            </a:r>
          </a:p>
        </p:txBody>
      </p:sp>
      <p:sp>
        <p:nvSpPr>
          <p:cNvPr id="170"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E895988-C7D3-4B6B-B233-ADF5F913E9A4}" type="slidenum">
              <a:rPr lang="en-US" sz="1200" b="0" strike="noStrike" spc="-1">
                <a:solidFill>
                  <a:srgbClr val="FFFFFF"/>
                </a:solidFill>
                <a:latin typeface="Verdana"/>
              </a:rPr>
              <a:t>3</a:t>
            </a:fld>
            <a:endParaRPr lang="en-US" sz="1200" b="1" strike="noStrike" spc="-1">
              <a:solidFill>
                <a:srgbClr val="FFFFFF"/>
              </a:solidFill>
              <a:latin typeface="Verdan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72"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73" name="PlaceHolder 1"/>
          <p:cNvSpPr>
            <a:spLocks noGrp="1" noRot="1" noChangeAspect="1"/>
          </p:cNvSpPr>
          <p:nvPr>
            <p:ph type="sldImg"/>
          </p:nvPr>
        </p:nvSpPr>
        <p:spPr>
          <a:xfrm>
            <a:off x="1181100" y="696913"/>
            <a:ext cx="4648200" cy="3486150"/>
          </a:xfrm>
          <a:prstGeom prst="rect">
            <a:avLst/>
          </a:prstGeom>
          <a:ln w="0">
            <a:noFill/>
          </a:ln>
        </p:spPr>
      </p:sp>
      <p:sp>
        <p:nvSpPr>
          <p:cNvPr id="174"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External backups use non-InterSystems tools — such as OS-level backup software or storage snapshots — to back up the IRIS.DAT database files. </a:t>
            </a:r>
          </a:p>
          <a:p>
            <a:pPr indent="0">
              <a:spcBef>
                <a:spcPts val="374"/>
              </a:spcBef>
              <a:buNone/>
            </a:pPr>
            <a:endParaRPr lang="en-US" sz="1000" b="1" strike="noStrike" spc="-1" dirty="0">
              <a:solidFill>
                <a:srgbClr val="000000"/>
              </a:solidFill>
              <a:latin typeface="Verdana"/>
            </a:endParaRPr>
          </a:p>
          <a:p>
            <a:pPr indent="0">
              <a:spcBef>
                <a:spcPts val="374"/>
              </a:spcBef>
              <a:buNone/>
            </a:pPr>
            <a:r>
              <a:rPr lang="en-US" sz="1000" b="1" strike="noStrike" spc="-1" dirty="0">
                <a:solidFill>
                  <a:srgbClr val="000000"/>
                </a:solidFill>
                <a:latin typeface="Verdana"/>
              </a:rPr>
              <a:t>The critical requirement is that IRIS.DAT files must not be actively changing during the backup</a:t>
            </a:r>
            <a:r>
              <a:rPr lang="en-US" sz="1000" b="0" strike="noStrike" spc="-1" dirty="0">
                <a:solidFill>
                  <a:srgbClr val="000000"/>
                </a:solidFill>
                <a:latin typeface="Verdana"/>
              </a:rPr>
              <a:t>.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Backing up a live, changing file can result in a corrupted, unrestorable backup. This is why IRIS provides </a:t>
            </a:r>
            <a:r>
              <a:rPr lang="en-US" sz="1000" b="1" strike="noStrike" spc="-1" dirty="0">
                <a:solidFill>
                  <a:srgbClr val="000000"/>
                </a:solidFill>
                <a:latin typeface="Verdana"/>
              </a:rPr>
              <a:t>freeze/thaw </a:t>
            </a:r>
            <a:r>
              <a:rPr lang="en-US" sz="1000" b="0" strike="noStrike" spc="-1" dirty="0">
                <a:solidFill>
                  <a:srgbClr val="000000"/>
                </a:solidFill>
                <a:latin typeface="Verdana"/>
              </a:rPr>
              <a:t>mechanisms to temporarily pause writes during the backup window.</a:t>
            </a:r>
          </a:p>
        </p:txBody>
      </p:sp>
      <p:sp>
        <p:nvSpPr>
          <p:cNvPr id="175"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0DFEB10-760E-434A-9402-B4B04F37B536}" type="slidenum">
              <a:rPr lang="en-US" sz="1200" b="0" strike="noStrike" spc="-1">
                <a:solidFill>
                  <a:srgbClr val="FFFFFF"/>
                </a:solidFill>
                <a:latin typeface="Verdana"/>
              </a:rPr>
              <a:t>4</a:t>
            </a:fld>
            <a:endParaRPr lang="en-US" sz="1200" b="1" strike="noStrike" spc="-1">
              <a:solidFill>
                <a:srgbClr val="FFFFFF"/>
              </a:solidFill>
              <a:latin typeface="Verdan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77" name="PlaceHolder 1"/>
          <p:cNvSpPr>
            <a:spLocks noGrp="1" noRot="1" noChangeAspect="1"/>
          </p:cNvSpPr>
          <p:nvPr>
            <p:ph type="sldImg"/>
          </p:nvPr>
        </p:nvSpPr>
        <p:spPr>
          <a:xfrm>
            <a:off x="1181100" y="696913"/>
            <a:ext cx="4648200" cy="3486150"/>
          </a:xfrm>
          <a:prstGeom prst="rect">
            <a:avLst/>
          </a:prstGeom>
          <a:ln w="0">
            <a:noFill/>
          </a:ln>
        </p:spPr>
      </p:sp>
      <p:sp>
        <p:nvSpPr>
          <p:cNvPr id="178"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The recommended approach is an External Backup where IRIS continues running — writes are temporarily frozen using the freeze/thaw mechanism, and a snapshot is taken.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A Cold Backup requires stopping IRIS entirely before backing up. While simpler, cold backups </a:t>
            </a:r>
            <a:r>
              <a:rPr lang="en-US" sz="1000" b="1" strike="noStrike" spc="-1" dirty="0">
                <a:solidFill>
                  <a:srgbClr val="000000"/>
                </a:solidFill>
                <a:latin typeface="Verdana"/>
              </a:rPr>
              <a:t>cause downtime</a:t>
            </a:r>
            <a:r>
              <a:rPr lang="en-US" sz="1000" b="0" strike="noStrike" spc="-1" dirty="0">
                <a:solidFill>
                  <a:srgbClr val="000000"/>
                </a:solidFill>
                <a:latin typeface="Verdana"/>
              </a:rPr>
              <a:t> and are typically only used when necessary, such as during hardware repair.</a:t>
            </a:r>
          </a:p>
        </p:txBody>
      </p:sp>
      <p:sp>
        <p:nvSpPr>
          <p:cNvPr id="179"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7386F22-D01A-4E9D-A237-237C0FCC7FB0}" type="slidenum">
              <a:rPr lang="en-US" sz="1200" b="0" strike="noStrike" spc="-1">
                <a:solidFill>
                  <a:srgbClr val="FFFFFF"/>
                </a:solidFill>
                <a:latin typeface="Verdana"/>
              </a:rPr>
              <a:t>5</a:t>
            </a:fld>
            <a:endParaRPr lang="en-US" sz="1200" b="1" strike="noStrike" spc="-1">
              <a:solidFill>
                <a:srgbClr val="FFFFFF"/>
              </a:solidFill>
              <a:latin typeface="Verdan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81" name="PlaceHolder 1"/>
          <p:cNvSpPr>
            <a:spLocks noGrp="1" noRot="1" noChangeAspect="1"/>
          </p:cNvSpPr>
          <p:nvPr>
            <p:ph type="sldImg"/>
          </p:nvPr>
        </p:nvSpPr>
        <p:spPr>
          <a:xfrm>
            <a:off x="1181100" y="696913"/>
            <a:ext cx="4648200" cy="3486150"/>
          </a:xfrm>
          <a:prstGeom prst="rect">
            <a:avLst/>
          </a:prstGeom>
          <a:ln w="0">
            <a:noFill/>
          </a:ln>
        </p:spPr>
      </p:sp>
      <p:sp>
        <p:nvSpPr>
          <p:cNvPr id="182" name="PlaceHolder 2"/>
          <p:cNvSpPr>
            <a:spLocks noGrp="1"/>
          </p:cNvSpPr>
          <p:nvPr>
            <p:ph type="body"/>
          </p:nvPr>
        </p:nvSpPr>
        <p:spPr>
          <a:xfrm>
            <a:off x="934560" y="4416120"/>
            <a:ext cx="5140440" cy="4192200"/>
          </a:xfrm>
          <a:prstGeom prst="rect">
            <a:avLst/>
          </a:prstGeom>
          <a:solidFill>
            <a:srgbClr val="FFFFFF"/>
          </a:solidFill>
          <a:ln w="9360">
            <a:solidFill>
              <a:srgbClr val="000000"/>
            </a:solidFill>
            <a:miter/>
          </a:ln>
        </p:spPr>
        <p:txBody>
          <a:bodyPr lIns="4680" tIns="4680" rIns="4680" bIns="4680" anchor="t">
            <a:noAutofit/>
          </a:bodyPr>
          <a:lstStyle/>
          <a:p>
            <a:pPr marL="228600" indent="-228600">
              <a:spcBef>
                <a:spcPts val="374"/>
              </a:spcBef>
              <a:buAutoNum type="arabicPeriod"/>
            </a:pPr>
            <a:r>
              <a:rPr lang="en-US" sz="1000" b="0" strike="noStrike" spc="-1" dirty="0">
                <a:solidFill>
                  <a:srgbClr val="000000"/>
                </a:solidFill>
                <a:latin typeface="Verdana"/>
              </a:rPr>
              <a:t>Freeze write daemon using </a:t>
            </a:r>
            <a:r>
              <a:rPr lang="en-US" sz="1000" b="0" strike="noStrike" spc="-1" dirty="0" err="1">
                <a:solidFill>
                  <a:srgbClr val="000000"/>
                </a:solidFill>
                <a:latin typeface="Verdana"/>
              </a:rPr>
              <a:t>Backup.General</a:t>
            </a:r>
            <a:r>
              <a:rPr lang="en-US" sz="1000" b="0" strike="noStrike" spc="-1" dirty="0">
                <a:solidFill>
                  <a:srgbClr val="000000"/>
                </a:solidFill>
                <a:latin typeface="Verdana"/>
              </a:rPr>
              <a:t> class methods, preventing any writes to the database. </a:t>
            </a:r>
          </a:p>
          <a:p>
            <a:pPr marL="228600" indent="-228600">
              <a:spcBef>
                <a:spcPts val="374"/>
              </a:spcBef>
              <a:buAutoNum type="arabicPeriod"/>
            </a:pPr>
            <a:r>
              <a:rPr lang="en-US" sz="1000" b="0" strike="noStrike" spc="-1" dirty="0">
                <a:solidFill>
                  <a:srgbClr val="000000"/>
                </a:solidFill>
                <a:latin typeface="Verdana"/>
              </a:rPr>
              <a:t>While frozen, an external backup tool or file system snapshot captures the IRIS.DAT files. </a:t>
            </a:r>
          </a:p>
          <a:p>
            <a:pPr marL="228600" indent="-228600">
              <a:spcBef>
                <a:spcPts val="374"/>
              </a:spcBef>
              <a:buAutoNum type="arabicPeriod"/>
            </a:pPr>
            <a:r>
              <a:rPr lang="en-US" sz="1000" b="0" strike="noStrike" spc="-1" dirty="0">
                <a:solidFill>
                  <a:srgbClr val="000000"/>
                </a:solidFill>
                <a:latin typeface="Verdana"/>
              </a:rPr>
              <a:t>Once the backup is complete, the Write Daemon is thawed and normal processing resumes. </a:t>
            </a:r>
          </a:p>
          <a:p>
            <a:pPr marL="228600" indent="-228600">
              <a:spcBef>
                <a:spcPts val="374"/>
              </a:spcBef>
              <a:buAutoNum type="arabicPeriod"/>
            </a:pPr>
            <a:r>
              <a:rPr lang="en-US" sz="1000" b="0" strike="noStrike" spc="-1" dirty="0">
                <a:solidFill>
                  <a:srgbClr val="000000"/>
                </a:solidFill>
                <a:latin typeface="Verdana"/>
              </a:rPr>
              <a:t>Depending on free global buffers available, application processing can continue uninterrupted during the freeze, as changes are held in memory until the thaw.</a:t>
            </a:r>
          </a:p>
        </p:txBody>
      </p:sp>
      <p:sp>
        <p:nvSpPr>
          <p:cNvPr id="183"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F06688C-39F3-4248-AE46-20CED49C6D10}" type="slidenum">
              <a:rPr lang="en-US" sz="1200" b="0" strike="noStrike" spc="-1">
                <a:solidFill>
                  <a:srgbClr val="FFFFFF"/>
                </a:solidFill>
                <a:latin typeface="Verdana"/>
              </a:rPr>
              <a:t>6</a:t>
            </a:fld>
            <a:endParaRPr lang="en-US" sz="1200" b="1" strike="noStrike" spc="-1">
              <a:solidFill>
                <a:srgbClr val="FFFFFF"/>
              </a:solidFill>
              <a:latin typeface="Verdan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noRot="1" noChangeAspect="1"/>
          </p:cNvSpPr>
          <p:nvPr>
            <p:ph type="sldImg"/>
          </p:nvPr>
        </p:nvSpPr>
        <p:spPr>
          <a:xfrm>
            <a:off x="1181100" y="696913"/>
            <a:ext cx="4648200" cy="3486150"/>
          </a:xfrm>
          <a:prstGeom prst="rect">
            <a:avLst/>
          </a:prstGeom>
          <a:ln w="0">
            <a:noFill/>
          </a:ln>
        </p:spPr>
      </p:sp>
      <p:sp>
        <p:nvSpPr>
          <p:cNvPr id="18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The two key methods are </a:t>
            </a:r>
            <a:r>
              <a:rPr lang="en-US" sz="1000" b="0" strike="noStrike" spc="-1" dirty="0" err="1">
                <a:solidFill>
                  <a:srgbClr val="000000"/>
                </a:solidFill>
                <a:latin typeface="Verdana"/>
              </a:rPr>
              <a:t>ExternalFreeze</a:t>
            </a:r>
            <a:r>
              <a:rPr lang="en-US" sz="1000" b="0" strike="noStrike" spc="-1" dirty="0">
                <a:solidFill>
                  <a:srgbClr val="000000"/>
                </a:solidFill>
                <a:latin typeface="Verdana"/>
              </a:rPr>
              <a:t>() and </a:t>
            </a:r>
            <a:r>
              <a:rPr lang="en-US" sz="1000" b="0" strike="noStrike" spc="-1" dirty="0" err="1">
                <a:solidFill>
                  <a:srgbClr val="000000"/>
                </a:solidFill>
                <a:latin typeface="Verdana"/>
              </a:rPr>
              <a:t>ExternalThaw</a:t>
            </a:r>
            <a:r>
              <a:rPr lang="en-US" sz="1000" b="0" strike="noStrike" spc="-1" dirty="0">
                <a:solidFill>
                  <a:srgbClr val="000000"/>
                </a:solidFill>
                <a:latin typeface="Verdana"/>
              </a:rPr>
              <a:t>().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In addition to pausing writes, these methods also switch the journal file and write a backup marker into the journal — both of which are important reference points during a restore. There are OS-specific examples for integrating these calls into backup scripts. </a:t>
            </a:r>
          </a:p>
        </p:txBody>
      </p:sp>
      <p:sp>
        <p:nvSpPr>
          <p:cNvPr id="186"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87"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B55156E-41E3-4885-B77A-3FD0D68D4A8B}" type="slidenum">
              <a:rPr lang="en-US" sz="1200" b="0" strike="noStrike" spc="-1">
                <a:solidFill>
                  <a:srgbClr val="FFFFFF"/>
                </a:solidFill>
                <a:latin typeface="Verdana"/>
              </a:rPr>
              <a:t>7</a:t>
            </a:fld>
            <a:endParaRPr lang="en-US" sz="1200" b="1" strike="noStrike" spc="-1">
              <a:solidFill>
                <a:srgbClr val="FFFFFF"/>
              </a:solidFill>
              <a:latin typeface="Verdan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89" name="PlaceHolder 1"/>
          <p:cNvSpPr>
            <a:spLocks noGrp="1" noRot="1" noChangeAspect="1"/>
          </p:cNvSpPr>
          <p:nvPr>
            <p:ph type="sldImg"/>
          </p:nvPr>
        </p:nvSpPr>
        <p:spPr>
          <a:xfrm>
            <a:off x="1181100" y="696913"/>
            <a:ext cx="4648200" cy="3486150"/>
          </a:xfrm>
          <a:prstGeom prst="rect">
            <a:avLst/>
          </a:prstGeom>
          <a:ln w="0">
            <a:noFill/>
          </a:ln>
        </p:spPr>
      </p:sp>
      <p:sp>
        <p:nvSpPr>
          <p:cNvPr id="190"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A Cold Backup is the simplest form of external backup: </a:t>
            </a:r>
          </a:p>
          <a:p>
            <a:pPr marL="228600" indent="-228600">
              <a:spcBef>
                <a:spcPts val="374"/>
              </a:spcBef>
              <a:buAutoNum type="arabicPeriod"/>
            </a:pPr>
            <a:r>
              <a:rPr lang="en-US" sz="1000" b="0" strike="noStrike" spc="-1" dirty="0">
                <a:solidFill>
                  <a:srgbClr val="000000"/>
                </a:solidFill>
                <a:latin typeface="Verdana"/>
              </a:rPr>
              <a:t>stop IRIS, </a:t>
            </a:r>
          </a:p>
          <a:p>
            <a:pPr marL="228600" indent="-228600">
              <a:spcBef>
                <a:spcPts val="374"/>
              </a:spcBef>
              <a:buAutoNum type="arabicPeriod"/>
            </a:pPr>
            <a:r>
              <a:rPr lang="en-US" sz="1000" b="0" strike="noStrike" spc="-1" dirty="0">
                <a:solidFill>
                  <a:srgbClr val="000000"/>
                </a:solidFill>
                <a:latin typeface="Verdana"/>
              </a:rPr>
              <a:t>copy the files, </a:t>
            </a:r>
          </a:p>
          <a:p>
            <a:pPr marL="228600" indent="-228600">
              <a:spcBef>
                <a:spcPts val="374"/>
              </a:spcBef>
              <a:buAutoNum type="arabicPeriod"/>
            </a:pPr>
            <a:r>
              <a:rPr lang="en-US" sz="1000" b="0" strike="noStrike" spc="-1" dirty="0">
                <a:solidFill>
                  <a:srgbClr val="000000"/>
                </a:solidFill>
                <a:latin typeface="Verdana"/>
              </a:rPr>
              <a:t>restart IRIS. </a:t>
            </a:r>
          </a:p>
          <a:p>
            <a:pPr marL="0" indent="0">
              <a:spcBef>
                <a:spcPts val="374"/>
              </a:spcBef>
              <a:buNone/>
            </a:pPr>
            <a:r>
              <a:rPr lang="en-US" sz="1000" b="0" strike="noStrike" spc="-1" dirty="0">
                <a:solidFill>
                  <a:srgbClr val="000000"/>
                </a:solidFill>
                <a:latin typeface="Verdana"/>
              </a:rPr>
              <a:t>no risk of the files changing during backup. </a:t>
            </a:r>
          </a:p>
          <a:p>
            <a:pPr marL="0" indent="0">
              <a:spcBef>
                <a:spcPts val="374"/>
              </a:spcBef>
              <a:buNone/>
            </a:pPr>
            <a:endParaRPr lang="en-US" sz="1000" b="0" strike="noStrike" spc="-1" dirty="0">
              <a:solidFill>
                <a:srgbClr val="000000"/>
              </a:solidFill>
              <a:latin typeface="Verdana"/>
            </a:endParaRPr>
          </a:p>
          <a:p>
            <a:pPr marL="0" indent="0">
              <a:spcBef>
                <a:spcPts val="374"/>
              </a:spcBef>
              <a:buNone/>
            </a:pPr>
            <a:r>
              <a:rPr lang="en-US" sz="1000" b="0" strike="noStrike" spc="-1" dirty="0">
                <a:solidFill>
                  <a:srgbClr val="000000"/>
                </a:solidFill>
                <a:latin typeface="Verdana"/>
              </a:rPr>
              <a:t>However, this approach causes downtime for users. It is typically reserved for situations where the system needs to be taken offline anyway, such as when replacing faulty hardware or performing major system maintenance.</a:t>
            </a:r>
          </a:p>
        </p:txBody>
      </p:sp>
      <p:sp>
        <p:nvSpPr>
          <p:cNvPr id="191"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7D4394B-9F0E-424E-BB7A-F67FE1C863C4}" type="slidenum">
              <a:rPr lang="en-US" sz="1200" b="0" strike="noStrike" spc="-1">
                <a:solidFill>
                  <a:srgbClr val="FFFFFF"/>
                </a:solidFill>
                <a:latin typeface="Verdana"/>
              </a:rPr>
              <a:t>8</a:t>
            </a:fld>
            <a:endParaRPr lang="en-US" sz="1200" b="1" strike="noStrike" spc="-1">
              <a:solidFill>
                <a:srgbClr val="FFFFFF"/>
              </a:solidFill>
              <a:latin typeface="Verdan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noRot="1" noChangeAspect="1"/>
          </p:cNvSpPr>
          <p:nvPr>
            <p:ph type="sldImg"/>
          </p:nvPr>
        </p:nvSpPr>
        <p:spPr>
          <a:xfrm>
            <a:off x="1181100" y="696913"/>
            <a:ext cx="4648200" cy="3486150"/>
          </a:xfrm>
          <a:prstGeom prst="rect">
            <a:avLst/>
          </a:prstGeom>
          <a:ln w="0">
            <a:noFill/>
          </a:ln>
        </p:spPr>
      </p:sp>
      <p:sp>
        <p:nvSpPr>
          <p:cNvPr id="193"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Emergency Access mode is a special startup mode that prevents regular users from connecting to IRIS while restoration work is being performed. This ensures no application activity can interfere with the restore process.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When started in Emergency Access mode, the specified user is temporarily granted the %All role, giving full administrative access regardless of their normal permissions.</a:t>
            </a:r>
          </a:p>
        </p:txBody>
      </p:sp>
      <p:sp>
        <p:nvSpPr>
          <p:cNvPr id="194"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95"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D3A8CD3-980C-460B-AA5C-28A9D6356DA9}" type="slidenum">
              <a:rPr lang="en-US" sz="1200" b="0" strike="noStrike" spc="-1">
                <a:solidFill>
                  <a:srgbClr val="FFFFFF"/>
                </a:solidFill>
                <a:latin typeface="Verdana"/>
              </a:rPr>
              <a:t>9</a:t>
            </a:fld>
            <a:endParaRPr lang="en-US" sz="1200" b="1" strike="noStrike" spc="-1">
              <a:solidFill>
                <a:srgbClr val="FFFFFF"/>
              </a:solidFill>
              <a:latin typeface="Verdan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1181100" y="696913"/>
            <a:ext cx="4648200" cy="3486150"/>
          </a:xfrm>
          <a:prstGeom prst="rect">
            <a:avLst/>
          </a:prstGeom>
          <a:ln w="0">
            <a:noFill/>
          </a:ln>
        </p:spPr>
      </p:sp>
      <p:sp>
        <p:nvSpPr>
          <p:cNvPr id="197"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marL="228600" indent="-228600">
              <a:spcBef>
                <a:spcPts val="374"/>
              </a:spcBef>
              <a:buAutoNum type="arabicPeriod"/>
            </a:pPr>
            <a:r>
              <a:rPr lang="en-US" sz="1000" b="0" strike="noStrike" spc="-1" dirty="0">
                <a:solidFill>
                  <a:srgbClr val="000000"/>
                </a:solidFill>
                <a:latin typeface="Verdana"/>
              </a:rPr>
              <a:t>Starting with IRIS down</a:t>
            </a:r>
          </a:p>
          <a:p>
            <a:pPr marL="228600" indent="-228600">
              <a:spcBef>
                <a:spcPts val="374"/>
              </a:spcBef>
              <a:buAutoNum type="arabicPeriod"/>
            </a:pPr>
            <a:r>
              <a:rPr lang="en-US" sz="1000" b="0" strike="noStrike" spc="-1" dirty="0">
                <a:solidFill>
                  <a:srgbClr val="000000"/>
                </a:solidFill>
                <a:latin typeface="Verdana"/>
              </a:rPr>
              <a:t>restore all database files and the WIJ from the backup </a:t>
            </a:r>
          </a:p>
          <a:p>
            <a:pPr marL="228600" indent="-228600">
              <a:spcBef>
                <a:spcPts val="374"/>
              </a:spcBef>
              <a:buAutoNum type="arabicPeriod"/>
            </a:pPr>
            <a:r>
              <a:rPr lang="en-US" sz="1000" b="0" strike="noStrike" spc="-1" dirty="0">
                <a:solidFill>
                  <a:srgbClr val="000000"/>
                </a:solidFill>
                <a:latin typeface="Verdana"/>
              </a:rPr>
              <a:t>Start IRIS in Emergency Access mode, it automatically uses the WIJ to recover any in-flight writes, then applies journal files to bring the databases to a consistent state. Any journals created after the backup was taken can also be applied to minimize data loss. Optional validation and cleanup steps can be performed </a:t>
            </a:r>
          </a:p>
          <a:p>
            <a:pPr marL="228600" indent="-228600">
              <a:spcBef>
                <a:spcPts val="374"/>
              </a:spcBef>
              <a:buAutoNum type="arabicPeriod"/>
            </a:pPr>
            <a:r>
              <a:rPr lang="en-US" sz="1000" b="0" strike="noStrike" spc="-1" dirty="0">
                <a:solidFill>
                  <a:srgbClr val="000000"/>
                </a:solidFill>
                <a:latin typeface="Verdana"/>
              </a:rPr>
              <a:t>Restart IRIS in normal mode</a:t>
            </a:r>
          </a:p>
        </p:txBody>
      </p:sp>
      <p:sp>
        <p:nvSpPr>
          <p:cNvPr id="198"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199"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338AC5F-F382-46E1-BC54-2B09D5DE9CDC}" type="slidenum">
              <a:rPr lang="en-US" sz="1200" b="0" strike="noStrike" spc="-1">
                <a:solidFill>
                  <a:srgbClr val="FFFFFF"/>
                </a:solidFill>
                <a:latin typeface="Verdana"/>
              </a:rPr>
              <a:t>10</a:t>
            </a:fld>
            <a:endParaRPr lang="en-US" sz="1200" b="1" strike="noStrike" spc="-1">
              <a:solidFill>
                <a:srgbClr val="FFFFFF"/>
              </a:solidFill>
              <a:latin typeface="Verdan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noRot="1" noChangeAspect="1"/>
          </p:cNvSpPr>
          <p:nvPr>
            <p:ph type="sldImg"/>
          </p:nvPr>
        </p:nvSpPr>
        <p:spPr>
          <a:xfrm>
            <a:off x="1181100" y="696913"/>
            <a:ext cx="4648200" cy="3486150"/>
          </a:xfrm>
          <a:prstGeom prst="rect">
            <a:avLst/>
          </a:prstGeom>
          <a:ln w="0">
            <a:noFill/>
          </a:ln>
        </p:spPr>
      </p:sp>
      <p:sp>
        <p:nvSpPr>
          <p:cNvPr id="201"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A partial restore is used when only some databases have been lost or corrupted, while others remain intact. </a:t>
            </a:r>
          </a:p>
          <a:p>
            <a:pPr indent="0">
              <a:spcBef>
                <a:spcPts val="374"/>
              </a:spcBef>
              <a:buNone/>
            </a:pPr>
            <a:r>
              <a:rPr lang="en-US" sz="1000" b="0" strike="noStrike" spc="-1" dirty="0">
                <a:solidFill>
                  <a:srgbClr val="000000"/>
                </a:solidFill>
                <a:latin typeface="Verdana"/>
              </a:rPr>
              <a:t>The process is similar to a full restore, but you only replace the affected IRIS.DAT files. When restoring journals, you need to carefully determine the correct starting journal file — the Messages Log will indicate the recommended file. It is important not to apply journals intended for the surviving databases, as this could cause inconsistencies.</a:t>
            </a:r>
          </a:p>
        </p:txBody>
      </p:sp>
      <p:sp>
        <p:nvSpPr>
          <p:cNvPr id="202"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03"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C6A7EB2-5E09-4608-A4DD-87B87F7ACF15}" type="slidenum">
              <a:rPr lang="en-US" sz="1200" b="0" strike="noStrike" spc="-1">
                <a:solidFill>
                  <a:srgbClr val="FFFFFF"/>
                </a:solidFill>
                <a:latin typeface="Verdana"/>
              </a:rPr>
              <a:t>11</a:t>
            </a:fld>
            <a:endParaRPr lang="en-US" sz="1200" b="1" strike="noStrike" spc="-1">
              <a:solidFill>
                <a:srgbClr val="FFFFFF"/>
              </a:solidFill>
              <a:latin typeface="Verdan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05"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06" name="PlaceHolder 1"/>
          <p:cNvSpPr>
            <a:spLocks noGrp="1" noRot="1" noChangeAspect="1"/>
          </p:cNvSpPr>
          <p:nvPr>
            <p:ph type="sldImg"/>
          </p:nvPr>
        </p:nvSpPr>
        <p:spPr>
          <a:xfrm>
            <a:off x="1181100" y="696913"/>
            <a:ext cx="4648200" cy="3486150"/>
          </a:xfrm>
          <a:prstGeom prst="rect">
            <a:avLst/>
          </a:prstGeom>
          <a:ln w="0">
            <a:noFill/>
          </a:ln>
        </p:spPr>
      </p:sp>
      <p:sp>
        <p:nvSpPr>
          <p:cNvPr id="207"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In a full system restore where the WIJ is available, IRIS can use the pointers in the WIJ to automatically determine which journals to apply.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If the WIJ was lost, journal restoration must be done manually.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For partial restores, the situation is more complex — databases that survived the crash already have the current WIJ applied to them, so you must not apply the current WIJ or the backed-up WIJ to the restored databases, as this would cause conflicts.</a:t>
            </a:r>
          </a:p>
        </p:txBody>
      </p:sp>
      <p:sp>
        <p:nvSpPr>
          <p:cNvPr id="208"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EF1DFD0-73F1-455D-9DC1-853EADF852FE}" type="slidenum">
              <a:rPr lang="en-US" sz="1200" b="0" strike="noStrike" spc="-1">
                <a:solidFill>
                  <a:srgbClr val="FFFFFF"/>
                </a:solidFill>
                <a:latin typeface="Verdana"/>
              </a:rPr>
              <a:t>12</a:t>
            </a:fld>
            <a:endParaRPr lang="en-US" sz="1200" b="1" strike="noStrike" spc="-1">
              <a:solidFill>
                <a:srgbClr val="FFFFFF"/>
              </a:solidFill>
              <a:latin typeface="Verdan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noRot="1" noChangeAspect="1"/>
          </p:cNvSpPr>
          <p:nvPr>
            <p:ph type="sldImg"/>
          </p:nvPr>
        </p:nvSpPr>
        <p:spPr>
          <a:xfrm>
            <a:off x="1181160" y="696960"/>
            <a:ext cx="4648320" cy="3486240"/>
          </a:xfrm>
          <a:prstGeom prst="rect">
            <a:avLst/>
          </a:prstGeom>
          <a:ln w="0">
            <a:noFill/>
          </a:ln>
        </p:spPr>
      </p:sp>
      <p:sp>
        <p:nvSpPr>
          <p:cNvPr id="210"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Simply restoring a database from backup is not sufficient for transactional consistency. Any transactions that were open at the time of the backup would be incomplete in the restored database. By applying journal files after the restore, IRIS can identify and roll back those open transactions, leaving the database in a clean, consistent state. If post-backup journals are not available, applying pre-backup journal files still allows IRIS to identify open transactions. The number of pre-backup journal files to apply depends on the application, but is typically no more than one day's worth.</a:t>
            </a:r>
          </a:p>
        </p:txBody>
      </p:sp>
      <p:sp>
        <p:nvSpPr>
          <p:cNvPr id="211"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1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C9189EE-7040-41BF-B795-B2A557B21B00}" type="slidenum">
              <a:rPr lang="en-US" sz="1200" b="0" strike="noStrike" spc="-1">
                <a:solidFill>
                  <a:srgbClr val="FFFFFF"/>
                </a:solidFill>
                <a:latin typeface="Verdana"/>
              </a:rPr>
              <a:t>13</a:t>
            </a:fld>
            <a:endParaRPr lang="en-US" sz="1200" b="1" strike="noStrike" spc="-1">
              <a:solidFill>
                <a:srgbClr val="FFFFFF"/>
              </a:solidFill>
              <a:latin typeface="Verdan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14" name="PlaceHolder 1"/>
          <p:cNvSpPr>
            <a:spLocks noGrp="1" noRot="1" noChangeAspect="1"/>
          </p:cNvSpPr>
          <p:nvPr>
            <p:ph type="sldImg"/>
          </p:nvPr>
        </p:nvSpPr>
        <p:spPr>
          <a:xfrm>
            <a:off x="1181160" y="696960"/>
            <a:ext cx="4648320" cy="3486240"/>
          </a:xfrm>
          <a:prstGeom prst="rect">
            <a:avLst/>
          </a:prstGeom>
          <a:ln w="0">
            <a:noFill/>
          </a:ln>
        </p:spPr>
      </p:sp>
      <p:sp>
        <p:nvSpPr>
          <p:cNvPr id="21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Online Backup is IRIS's built-in backup mechanism. Unlike external backup, it does not require any special OS-level tools or freeze/thaw scripting — it is entirely managed within IRIS. The application continues running normally during the backup. The trade-off is that online backup is slower than external backup because it works at the database block level rather than at the file system level. It only backs up IRIS.DAT files and writes the backup to a .cbk file.</a:t>
            </a:r>
          </a:p>
        </p:txBody>
      </p:sp>
      <p:sp>
        <p:nvSpPr>
          <p:cNvPr id="21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2EE4B8E-631D-4953-9EBB-A4FE28AA6FFE}" type="slidenum">
              <a:rPr lang="en-US" sz="1200" b="0" strike="noStrike" spc="-1">
                <a:solidFill>
                  <a:srgbClr val="FFFFFF"/>
                </a:solidFill>
                <a:latin typeface="Verdana"/>
              </a:rPr>
              <a:t>14</a:t>
            </a:fld>
            <a:endParaRPr lang="en-US" sz="1200" b="1" strike="noStrike" spc="-1">
              <a:solidFill>
                <a:srgbClr val="FFFFFF"/>
              </a:solidFill>
              <a:latin typeface="Verdan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18" name="PlaceHolder 1"/>
          <p:cNvSpPr>
            <a:spLocks noGrp="1" noRot="1" noChangeAspect="1"/>
          </p:cNvSpPr>
          <p:nvPr>
            <p:ph type="sldImg"/>
          </p:nvPr>
        </p:nvSpPr>
        <p:spPr>
          <a:xfrm>
            <a:off x="1181100" y="696913"/>
            <a:ext cx="4648200" cy="3486150"/>
          </a:xfrm>
          <a:prstGeom prst="rect">
            <a:avLst/>
          </a:prstGeom>
          <a:ln w="0">
            <a:noFill/>
          </a:ln>
        </p:spPr>
      </p:sp>
      <p:sp>
        <p:nvSpPr>
          <p:cNvPr id="219"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dirty="0">
                <a:solidFill>
                  <a:srgbClr val="000000"/>
                </a:solidFill>
                <a:latin typeface="Verdana"/>
              </a:rPr>
              <a:t>Online backup uses a multi-pass approach to ensure a consistent snapshot of the database while users continue working.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In the first pass, all currently allocated blocks are backed up. From that point, IRIS tracks any blocks that are modified.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Subsequent passes back up those changed blocks. This continues until the number of changed blocks is small enough that a final pass can complete quickly. </a:t>
            </a:r>
          </a:p>
          <a:p>
            <a:pPr indent="0">
              <a:spcBef>
                <a:spcPts val="374"/>
              </a:spcBef>
              <a:buNone/>
            </a:pPr>
            <a:endParaRPr lang="en-US" sz="1000" b="0" strike="noStrike" spc="-1" dirty="0">
              <a:solidFill>
                <a:srgbClr val="000000"/>
              </a:solidFill>
              <a:latin typeface="Verdana"/>
            </a:endParaRPr>
          </a:p>
          <a:p>
            <a:pPr indent="0">
              <a:spcBef>
                <a:spcPts val="374"/>
              </a:spcBef>
              <a:buNone/>
            </a:pPr>
            <a:r>
              <a:rPr lang="en-US" sz="1000" b="0" strike="noStrike" spc="-1" dirty="0">
                <a:solidFill>
                  <a:srgbClr val="000000"/>
                </a:solidFill>
                <a:latin typeface="Verdana"/>
              </a:rPr>
              <a:t>During the final pass, the Write Daemon briefly freezes to ensure the last set of changes is captured cleanly, then immediately thaws. In practice, three passes are usually sufficient.</a:t>
            </a:r>
          </a:p>
        </p:txBody>
      </p:sp>
      <p:sp>
        <p:nvSpPr>
          <p:cNvPr id="220"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4B34D69-EE8C-4010-8BA5-ED85C18EEB97}" type="slidenum">
              <a:rPr lang="en-US" sz="1200" b="0" strike="noStrike" spc="-1">
                <a:solidFill>
                  <a:srgbClr val="FFFFFF"/>
                </a:solidFill>
                <a:latin typeface="Verdana"/>
              </a:rPr>
              <a:t>15</a:t>
            </a:fld>
            <a:endParaRPr lang="en-US" sz="1200" b="1" strike="noStrike" spc="-1">
              <a:solidFill>
                <a:srgbClr val="FFFFFF"/>
              </a:solidFill>
              <a:latin typeface="Verdan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22" name="PlaceHolder 1"/>
          <p:cNvSpPr>
            <a:spLocks noGrp="1" noRot="1" noChangeAspect="1"/>
          </p:cNvSpPr>
          <p:nvPr>
            <p:ph type="sldImg"/>
          </p:nvPr>
        </p:nvSpPr>
        <p:spPr>
          <a:xfrm>
            <a:off x="1181160" y="696960"/>
            <a:ext cx="4648320" cy="3486240"/>
          </a:xfrm>
          <a:prstGeom prst="rect">
            <a:avLst/>
          </a:prstGeom>
          <a:ln w="0">
            <a:noFill/>
          </a:ln>
        </p:spPr>
      </p:sp>
      <p:sp>
        <p:nvSpPr>
          <p:cNvPr id="223"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IRIS online backup supports three types. A Full backup captures all allocated blocks in the selected databases and is self-contained — you only need it to restore. A Cumulative backup captures all changes since the last Full backup, so it grows over time as more changes accumulate. An Incremental backup captures only changes since the last backup of any type, making it the smallest and fastest — but to restore, you need the full chain of incrementals since the last Full or Cumulative.</a:t>
            </a:r>
          </a:p>
        </p:txBody>
      </p:sp>
      <p:sp>
        <p:nvSpPr>
          <p:cNvPr id="224"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9816496-E61C-4617-BC57-8A479E00BFEE}" type="slidenum">
              <a:rPr lang="en-US" sz="1200" b="0" strike="noStrike" spc="-1">
                <a:solidFill>
                  <a:srgbClr val="FFFFFF"/>
                </a:solidFill>
                <a:latin typeface="Verdana"/>
              </a:rPr>
              <a:t>16</a:t>
            </a:fld>
            <a:endParaRPr lang="en-US" sz="1200" b="1" strike="noStrike" spc="-1">
              <a:solidFill>
                <a:srgbClr val="FFFFFF"/>
              </a:solidFill>
              <a:latin typeface="Verdan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26" name="PlaceHolder 1"/>
          <p:cNvSpPr>
            <a:spLocks noGrp="1" noRot="1" noChangeAspect="1"/>
          </p:cNvSpPr>
          <p:nvPr>
            <p:ph type="sldImg"/>
          </p:nvPr>
        </p:nvSpPr>
        <p:spPr>
          <a:xfrm>
            <a:off x="1181160" y="696960"/>
            <a:ext cx="4648320" cy="3486240"/>
          </a:xfrm>
          <a:prstGeom prst="rect">
            <a:avLst/>
          </a:prstGeom>
          <a:ln w="0">
            <a:noFill/>
          </a:ln>
        </p:spPr>
      </p:sp>
      <p:sp>
        <p:nvSpPr>
          <p:cNvPr id="227"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Before running a backup, you need to configure which databases to include. This is done by creating a Database Backup List through the Management Portal. Alternatively, the ^BACKUP routine can be run directly from the terminal in the %SYS namespace. The backup list allows you to define a subset of databases rather than backing up everything.</a:t>
            </a:r>
          </a:p>
        </p:txBody>
      </p:sp>
      <p:sp>
        <p:nvSpPr>
          <p:cNvPr id="228"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CAA81EF-039F-4682-BC09-F567E8A211D5}" type="slidenum">
              <a:rPr lang="en-US" sz="1200" b="0" strike="noStrike" spc="-1">
                <a:solidFill>
                  <a:srgbClr val="FFFFFF"/>
                </a:solidFill>
                <a:latin typeface="Verdana"/>
              </a:rPr>
              <a:t>17</a:t>
            </a:fld>
            <a:endParaRPr lang="en-US" sz="1200" b="1" strike="noStrike" spc="-1">
              <a:solidFill>
                <a:srgbClr val="FFFFFF"/>
              </a:solidFill>
              <a:latin typeface="Verdan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30" name="PlaceHolder 1"/>
          <p:cNvSpPr>
            <a:spLocks noGrp="1" noRot="1" noChangeAspect="1"/>
          </p:cNvSpPr>
          <p:nvPr>
            <p:ph type="sldImg"/>
          </p:nvPr>
        </p:nvSpPr>
        <p:spPr>
          <a:xfrm>
            <a:off x="1181160" y="696960"/>
            <a:ext cx="4648320" cy="3486240"/>
          </a:xfrm>
          <a:prstGeom prst="rect">
            <a:avLst/>
          </a:prstGeom>
          <a:ln w="0">
            <a:noFill/>
          </a:ln>
        </p:spPr>
      </p:sp>
      <p:sp>
        <p:nvSpPr>
          <p:cNvPr id="231"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Once the database list is configured, you need to specify where the backup file should be saved. This is done through the Management Portal under the appropriate backup type configuration. When using the ^BACKUP terminal routine, it will interactively prompt you for the backup file location. Make sure the target directory exists and has sufficient disk space before running the backup.</a:t>
            </a:r>
          </a:p>
        </p:txBody>
      </p:sp>
      <p:sp>
        <p:nvSpPr>
          <p:cNvPr id="23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AF40CFB-2EF2-4118-82BE-3D83E70CBD03}" type="slidenum">
              <a:rPr lang="en-US" sz="1200" b="0" strike="noStrike" spc="-1">
                <a:solidFill>
                  <a:srgbClr val="FFFFFF"/>
                </a:solidFill>
                <a:latin typeface="Verdana"/>
              </a:rPr>
              <a:t>18</a:t>
            </a:fld>
            <a:endParaRPr lang="en-US" sz="1200" b="1" strike="noStrike" spc="-1">
              <a:solidFill>
                <a:srgbClr val="FFFFFF"/>
              </a:solidFill>
              <a:latin typeface="Verdan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34" name="PlaceHolder 1"/>
          <p:cNvSpPr>
            <a:spLocks noGrp="1" noRot="1" noChangeAspect="1"/>
          </p:cNvSpPr>
          <p:nvPr>
            <p:ph type="sldImg"/>
          </p:nvPr>
        </p:nvSpPr>
        <p:spPr>
          <a:xfrm>
            <a:off x="1181160" y="696960"/>
            <a:ext cx="4648320" cy="3486240"/>
          </a:xfrm>
          <a:prstGeom prst="rect">
            <a:avLst/>
          </a:prstGeom>
          <a:ln w="0">
            <a:noFill/>
          </a:ln>
        </p:spPr>
      </p:sp>
      <p:sp>
        <p:nvSpPr>
          <p:cNvPr id="23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Before running a backup, it is good practice to estimate how large the backup file will be so you can ensure sufficient disk space is available in the target directory. The ^DBSIZE routine provides this estimate. Run it from the %SYS namespace and it will calculate the estimated size based on the current contents of the selected databases.</a:t>
            </a:r>
          </a:p>
        </p:txBody>
      </p:sp>
      <p:sp>
        <p:nvSpPr>
          <p:cNvPr id="23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67BD9DA-71BA-4685-A617-549B9713F623}" type="slidenum">
              <a:rPr lang="en-US" sz="1200" b="0" strike="noStrike" spc="-1">
                <a:solidFill>
                  <a:srgbClr val="FFFFFF"/>
                </a:solidFill>
                <a:latin typeface="Verdana"/>
              </a:rPr>
              <a:t>19</a:t>
            </a:fld>
            <a:endParaRPr lang="en-US" sz="1200" b="1" strike="noStrike" spc="-1">
              <a:solidFill>
                <a:srgbClr val="FFFFFF"/>
              </a:solidFill>
              <a:latin typeface="Verdan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38" name="PlaceHolder 1"/>
          <p:cNvSpPr>
            <a:spLocks noGrp="1" noRot="1" noChangeAspect="1"/>
          </p:cNvSpPr>
          <p:nvPr>
            <p:ph type="sldImg"/>
          </p:nvPr>
        </p:nvSpPr>
        <p:spPr>
          <a:xfrm>
            <a:off x="1181160" y="696960"/>
            <a:ext cx="4648320" cy="3486240"/>
          </a:xfrm>
          <a:prstGeom prst="rect">
            <a:avLst/>
          </a:prstGeom>
          <a:ln w="0">
            <a:noFill/>
          </a:ln>
        </p:spPr>
      </p:sp>
      <p:sp>
        <p:nvSpPr>
          <p:cNvPr id="239"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Once the backup is configured, it can be run either through the Management Portal under System Operation &gt; Backup, or directly from the terminal using the ^BACKUP routine. Both methods will execute the backup based on the previously configured settings. For scheduled or automated backups, the Task Manager can be used to run these on a regular schedule.</a:t>
            </a:r>
          </a:p>
        </p:txBody>
      </p:sp>
      <p:sp>
        <p:nvSpPr>
          <p:cNvPr id="240"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BCBD5B-0C26-4B52-864C-46CA0987FC9D}" type="slidenum">
              <a:rPr lang="en-US" sz="1200" b="0" strike="noStrike" spc="-1">
                <a:solidFill>
                  <a:srgbClr val="FFFFFF"/>
                </a:solidFill>
                <a:latin typeface="Verdana"/>
              </a:rPr>
              <a:t>20</a:t>
            </a:fld>
            <a:endParaRPr lang="en-US" sz="1200" b="1" strike="noStrike" spc="-1">
              <a:solidFill>
                <a:srgbClr val="FFFFFF"/>
              </a:solidFill>
              <a:latin typeface="Verdan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42" name="PlaceHolder 1"/>
          <p:cNvSpPr>
            <a:spLocks noGrp="1" noRot="1" noChangeAspect="1"/>
          </p:cNvSpPr>
          <p:nvPr>
            <p:ph type="sldImg"/>
          </p:nvPr>
        </p:nvSpPr>
        <p:spPr>
          <a:xfrm>
            <a:off x="1181160" y="696960"/>
            <a:ext cx="4648320" cy="3486240"/>
          </a:xfrm>
          <a:prstGeom prst="rect">
            <a:avLst/>
          </a:prstGeom>
          <a:ln w="0">
            <a:noFill/>
          </a:ln>
        </p:spPr>
      </p:sp>
      <p:sp>
        <p:nvSpPr>
          <p:cNvPr id="243"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After a backup runs, you should verify it completed successfully. Through the Management Portal, you can view the status while a backup is running, or review the history of completed backups afterward. Each backup generates a log that details what was backed up, any warnings, and whether it completed successfully. When running ^BACKUP from the terminal, logging is not enabled by default, but you can turn on session logging via the File &gt; Logging menu option to capture the output.</a:t>
            </a:r>
          </a:p>
        </p:txBody>
      </p:sp>
      <p:sp>
        <p:nvSpPr>
          <p:cNvPr id="244"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8D409E-8B1B-4A37-858C-627C01417C5E}" type="slidenum">
              <a:rPr lang="en-US" sz="1200" b="0" strike="noStrike" spc="-1">
                <a:solidFill>
                  <a:srgbClr val="FFFFFF"/>
                </a:solidFill>
                <a:latin typeface="Verdana"/>
              </a:rPr>
              <a:t>21</a:t>
            </a:fld>
            <a:endParaRPr lang="en-US" sz="1200" b="1" strike="noStrike" spc="-1">
              <a:solidFill>
                <a:srgbClr val="FFFFFF"/>
              </a:solidFill>
              <a:latin typeface="Verdan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noRot="1" noChangeAspect="1"/>
          </p:cNvSpPr>
          <p:nvPr>
            <p:ph type="sldImg"/>
          </p:nvPr>
        </p:nvSpPr>
        <p:spPr>
          <a:xfrm>
            <a:off x="1181160" y="696960"/>
            <a:ext cx="4648320" cy="3486240"/>
          </a:xfrm>
          <a:prstGeom prst="rect">
            <a:avLst/>
          </a:prstGeom>
          <a:ln w="0">
            <a:noFill/>
          </a:ln>
        </p:spPr>
      </p:sp>
      <p:sp>
        <p:nvSpPr>
          <p:cNvPr id="246"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Backup files are named using a standard convention that includes the backup type, date, and a sequence number — for example, FullDBList_20250401_001.cbk. The .cbk extension stands for Cache/IRIS BacKup. Importantly, IRIS does not automatically delete old backup files — it is your responsibility to monitor the backup directory and manage disk space by deleting or archiving old files according to your retention policy.</a:t>
            </a:r>
          </a:p>
        </p:txBody>
      </p:sp>
      <p:sp>
        <p:nvSpPr>
          <p:cNvPr id="247"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48"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5EFA7E3-CE48-43A8-876D-DE2B4E78AC19}" type="slidenum">
              <a:rPr lang="en-US" sz="1200" b="0" strike="noStrike" spc="-1">
                <a:solidFill>
                  <a:srgbClr val="FFFFFF"/>
                </a:solidFill>
                <a:latin typeface="Verdana"/>
              </a:rPr>
              <a:t>22</a:t>
            </a:fld>
            <a:endParaRPr lang="en-US" sz="1200" b="1" strike="noStrike" spc="-1">
              <a:solidFill>
                <a:srgbClr val="FFFFFF"/>
              </a:solidFill>
              <a:latin typeface="Verdan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50" name="PlaceHolder 1"/>
          <p:cNvSpPr>
            <a:spLocks noGrp="1" noRot="1" noChangeAspect="1"/>
          </p:cNvSpPr>
          <p:nvPr>
            <p:ph type="sldImg"/>
          </p:nvPr>
        </p:nvSpPr>
        <p:spPr>
          <a:xfrm>
            <a:off x="1181160" y="696960"/>
            <a:ext cx="4648320" cy="3486240"/>
          </a:xfrm>
          <a:prstGeom prst="rect">
            <a:avLst/>
          </a:prstGeom>
          <a:ln w="0">
            <a:noFill/>
          </a:ln>
        </p:spPr>
      </p:sp>
      <p:sp>
        <p:nvSpPr>
          <p:cNvPr id="251"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To restore from an online backup, run the ^BACKUP routine from the %SYS namespace and select one of the restore options. Restore ALL will restore all databases contained in the backup file. Restore Selected allows you to choose specific databases to restore, which is useful for partial restores where only some databases need to be recovered.</a:t>
            </a:r>
          </a:p>
        </p:txBody>
      </p:sp>
      <p:sp>
        <p:nvSpPr>
          <p:cNvPr id="25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80221EB-ECF6-41A0-968C-C12B5704B99C}" type="slidenum">
              <a:rPr lang="en-US" sz="1200" b="0" strike="noStrike" spc="-1">
                <a:solidFill>
                  <a:srgbClr val="FFFFFF"/>
                </a:solidFill>
                <a:latin typeface="Verdana"/>
              </a:rPr>
              <a:t>23</a:t>
            </a:fld>
            <a:endParaRPr lang="en-US" sz="1200" b="1" strike="noStrike" spc="-1">
              <a:solidFill>
                <a:srgbClr val="FFFFFF"/>
              </a:solidFill>
              <a:latin typeface="Verdan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54" name="PlaceHolder 1"/>
          <p:cNvSpPr>
            <a:spLocks noGrp="1" noRot="1" noChangeAspect="1"/>
          </p:cNvSpPr>
          <p:nvPr>
            <p:ph type="sldImg"/>
          </p:nvPr>
        </p:nvSpPr>
        <p:spPr>
          <a:xfrm>
            <a:off x="1181160" y="696960"/>
            <a:ext cx="4648320" cy="3486240"/>
          </a:xfrm>
          <a:prstGeom prst="rect">
            <a:avLst/>
          </a:prstGeom>
          <a:ln w="0">
            <a:noFill/>
          </a:ln>
        </p:spPr>
      </p:sp>
      <p:sp>
        <p:nvSpPr>
          <p:cNvPr id="25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Before starting a restore from an online backup, ensure no users are connected to the system to prevent interference. The restore process follows a specific order: first apply the last full backup of each affected database, then the last cumulative backup since that full backup, and finally all incremental backups in the order they were taken. Skipping any file in the incremental chain will result in an incomplete restore.</a:t>
            </a:r>
          </a:p>
        </p:txBody>
      </p:sp>
      <p:sp>
        <p:nvSpPr>
          <p:cNvPr id="25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9FFB76-9331-4FA9-A739-A95183098FCC}" type="slidenum">
              <a:rPr lang="en-US" sz="1200" b="0" strike="noStrike" spc="-1">
                <a:solidFill>
                  <a:srgbClr val="FFFFFF"/>
                </a:solidFill>
                <a:latin typeface="Verdana"/>
              </a:rPr>
              <a:t>24</a:t>
            </a:fld>
            <a:endParaRPr lang="en-US" sz="1200" b="1" strike="noStrike" spc="-1">
              <a:solidFill>
                <a:srgbClr val="FFFFFF"/>
              </a:solidFill>
              <a:latin typeface="Verdan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58" name="PlaceHolder 1"/>
          <p:cNvSpPr>
            <a:spLocks noGrp="1" noRot="1" noChangeAspect="1"/>
          </p:cNvSpPr>
          <p:nvPr>
            <p:ph type="sldImg"/>
          </p:nvPr>
        </p:nvSpPr>
        <p:spPr>
          <a:xfrm>
            <a:off x="1181160" y="696960"/>
            <a:ext cx="4648320" cy="3486240"/>
          </a:xfrm>
          <a:prstGeom prst="rect">
            <a:avLst/>
          </a:prstGeom>
          <a:ln w="0">
            <a:noFill/>
          </a:ln>
        </p:spPr>
      </p:sp>
      <p:sp>
        <p:nvSpPr>
          <p:cNvPr id="259"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Restoring the backup files alone is not enough. Just as with external backup restores, journal files must be applied to ensure transactional consistency and to roll back any open transactions that existed at the time of the backup. After journals are applied, database and application integrity checks should be run to confirm the restored data is valid. Finally, a fresh full backup should be taken of the newly restored system to establish a clean new baseline.</a:t>
            </a:r>
          </a:p>
        </p:txBody>
      </p:sp>
      <p:sp>
        <p:nvSpPr>
          <p:cNvPr id="260"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0D1875-C002-4EB1-A4FB-9699E1108299}" type="slidenum">
              <a:rPr lang="en-US" sz="1200" b="0" strike="noStrike" spc="-1">
                <a:solidFill>
                  <a:srgbClr val="FFFFFF"/>
                </a:solidFill>
                <a:latin typeface="Verdana"/>
              </a:rPr>
              <a:t>25</a:t>
            </a:fld>
            <a:endParaRPr lang="en-US" sz="1200" b="1" strike="noStrike" spc="-1">
              <a:solidFill>
                <a:srgbClr val="FFFFFF"/>
              </a:solidFill>
              <a:latin typeface="Verdan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62" name="PlaceHolder 1"/>
          <p:cNvSpPr>
            <a:spLocks noGrp="1" noRot="1" noChangeAspect="1"/>
          </p:cNvSpPr>
          <p:nvPr>
            <p:ph type="sldImg"/>
          </p:nvPr>
        </p:nvSpPr>
        <p:spPr>
          <a:xfrm>
            <a:off x="1181160" y="696960"/>
            <a:ext cx="4648320" cy="3486240"/>
          </a:xfrm>
          <a:prstGeom prst="rect">
            <a:avLst/>
          </a:prstGeom>
          <a:ln w="0">
            <a:noFill/>
          </a:ln>
        </p:spPr>
      </p:sp>
      <p:sp>
        <p:nvSpPr>
          <p:cNvPr id="263"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When the restore process begins, it will ask whether to suspend other processes during the restore — this is recommended to prevent any interference. It will then prompt for the full backup .cbk file to start from. The restore process is flexible in that it can restore databases to their original directory path or to a different directory, which is useful if you are restoring to a different server or a different disk location.</a:t>
            </a:r>
          </a:p>
        </p:txBody>
      </p:sp>
      <p:sp>
        <p:nvSpPr>
          <p:cNvPr id="264"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761C38C-31CF-440B-A2BF-55DE1521E071}" type="slidenum">
              <a:rPr lang="en-US" sz="1200" b="0" strike="noStrike" spc="-1">
                <a:solidFill>
                  <a:srgbClr val="FFFFFF"/>
                </a:solidFill>
                <a:latin typeface="Verdana"/>
              </a:rPr>
              <a:t>26</a:t>
            </a:fld>
            <a:endParaRPr lang="en-US" sz="1200" b="1" strike="noStrike" spc="-1">
              <a:solidFill>
                <a:srgbClr val="FFFFFF"/>
              </a:solidFill>
              <a:latin typeface="Verdan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66" name="PlaceHolder 1"/>
          <p:cNvSpPr>
            <a:spLocks noGrp="1" noRot="1" noChangeAspect="1"/>
          </p:cNvSpPr>
          <p:nvPr>
            <p:ph type="sldImg"/>
          </p:nvPr>
        </p:nvSpPr>
        <p:spPr>
          <a:xfrm>
            <a:off x="1181160" y="696960"/>
            <a:ext cx="4648320" cy="3486240"/>
          </a:xfrm>
          <a:prstGeom prst="rect">
            <a:avLst/>
          </a:prstGeom>
          <a:ln w="0">
            <a:noFill/>
          </a:ln>
        </p:spPr>
      </p:sp>
      <p:sp>
        <p:nvSpPr>
          <p:cNvPr id="267"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After the full backup file is restored, the process will guide you through restoring subsequent backup files. IRIS uses its backup history to suggest the next logical file in the chain, helping to ensure you apply them in the correct order. After all backup files are restored, the process moves to journal restore — you will be prompted for the first and last journal files to apply. You can also choose to restore only specific globals from the journal files if needed.</a:t>
            </a:r>
          </a:p>
        </p:txBody>
      </p:sp>
      <p:sp>
        <p:nvSpPr>
          <p:cNvPr id="268"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C14CC5A-CC05-4DAF-BFC0-D8D5DCC134A3}" type="slidenum">
              <a:rPr lang="en-US" sz="1200" b="0" strike="noStrike" spc="-1">
                <a:solidFill>
                  <a:srgbClr val="FFFFFF"/>
                </a:solidFill>
                <a:latin typeface="Verdana"/>
              </a:rPr>
              <a:t>27</a:t>
            </a:fld>
            <a:endParaRPr lang="en-US" sz="1200" b="1" strike="noStrike" spc="-1">
              <a:solidFill>
                <a:srgbClr val="FFFFFF"/>
              </a:solidFill>
              <a:latin typeface="Verdan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70" name="PlaceHolder 1"/>
          <p:cNvSpPr>
            <a:spLocks noGrp="1" noRot="1" noChangeAspect="1"/>
          </p:cNvSpPr>
          <p:nvPr>
            <p:ph type="sldImg"/>
          </p:nvPr>
        </p:nvSpPr>
        <p:spPr>
          <a:xfrm>
            <a:off x="1181160" y="696960"/>
            <a:ext cx="4648320" cy="3486240"/>
          </a:xfrm>
          <a:prstGeom prst="rect">
            <a:avLst/>
          </a:prstGeom>
          <a:ln w="0">
            <a:noFill/>
          </a:ln>
        </p:spPr>
      </p:sp>
      <p:sp>
        <p:nvSpPr>
          <p:cNvPr id="271" name="PlaceHolder 2"/>
          <p:cNvSpPr>
            <a:spLocks noGrp="1"/>
          </p:cNvSpPr>
          <p:nvPr>
            <p:ph type="body"/>
          </p:nvPr>
        </p:nvSpPr>
        <p:spPr>
          <a:xfrm>
            <a:off x="934560" y="4416120"/>
            <a:ext cx="5140440" cy="4192200"/>
          </a:xfrm>
          <a:prstGeom prst="rect">
            <a:avLst/>
          </a:prstGeom>
          <a:solidFill>
            <a:srgbClr val="FFFFFF"/>
          </a:solidFill>
          <a:ln w="9360">
            <a:solidFill>
              <a:srgbClr val="000000"/>
            </a:solidFill>
            <a:miter/>
          </a:ln>
        </p:spPr>
        <p:txBody>
          <a:bodyPr lIns="4680" tIns="4680" rIns="4680" bIns="4680" anchor="t">
            <a:noAutofit/>
          </a:bodyPr>
          <a:lstStyle/>
          <a:p>
            <a:pPr indent="0">
              <a:spcBef>
                <a:spcPts val="374"/>
              </a:spcBef>
              <a:buNone/>
            </a:pPr>
            <a:r>
              <a:rPr lang="en-US" sz="1000" b="0" strike="noStrike" spc="-1">
                <a:solidFill>
                  <a:srgbClr val="000000"/>
                </a:solidFill>
                <a:latin typeface="Verdana"/>
              </a:rPr>
              <a:t>If there are still open transactions remaining after all journal files have been applied, the restore process will detect this and prompt you to roll them back. Rolling back open transactions is necessary to leave the database in a clean, consistent state. This is an automatic part of the restore process — IRIS identifies the incomplete transactions from the journal files and reverses their changes.</a:t>
            </a:r>
          </a:p>
        </p:txBody>
      </p:sp>
      <p:sp>
        <p:nvSpPr>
          <p:cNvPr id="27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16D432C-3BB8-459C-9C02-E6722553AE85}" type="slidenum">
              <a:rPr lang="en-US" sz="1200" b="0" strike="noStrike" spc="-1">
                <a:solidFill>
                  <a:srgbClr val="FFFFFF"/>
                </a:solidFill>
                <a:latin typeface="Verdana"/>
              </a:rPr>
              <a:t>28</a:t>
            </a:fld>
            <a:endParaRPr lang="en-US" sz="1200" b="1" strike="noStrike" spc="-1">
              <a:solidFill>
                <a:srgbClr val="FFFFFF"/>
              </a:solidFill>
              <a:latin typeface="Verdan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noRot="1" noChangeAspect="1"/>
          </p:cNvSpPr>
          <p:nvPr>
            <p:ph type="sldImg"/>
          </p:nvPr>
        </p:nvSpPr>
        <p:spPr>
          <a:xfrm>
            <a:off x="1181160" y="696960"/>
            <a:ext cx="4648320" cy="3486240"/>
          </a:xfrm>
          <a:prstGeom prst="rect">
            <a:avLst/>
          </a:prstGeom>
          <a:ln w="0">
            <a:noFill/>
          </a:ln>
        </p:spPr>
      </p:sp>
      <p:sp>
        <p:nvSpPr>
          <p:cNvPr id="274"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A full online restore cannot be performed on a running IRIS instance — you need a secondary IRIS instance to perform the restore on behalf of the primary instance. It is recommended to set up this secondary instance in advance and keep it on standby, shutting it down when not needed for a restore. This approach is used when all or most storage for the primary instance is unusable and needs to be rebuilt from backup.</a:t>
            </a:r>
          </a:p>
        </p:txBody>
      </p:sp>
      <p:sp>
        <p:nvSpPr>
          <p:cNvPr id="275"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7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38514C2-BFEF-4AD7-B13E-379A486E33A9}" type="slidenum">
              <a:rPr lang="en-US" sz="1200" b="0" strike="noStrike" spc="-1">
                <a:solidFill>
                  <a:srgbClr val="FFFFFF"/>
                </a:solidFill>
                <a:latin typeface="Verdana"/>
              </a:rPr>
              <a:t>29</a:t>
            </a:fld>
            <a:endParaRPr lang="en-US" sz="1200" b="1" strike="noStrike" spc="-1">
              <a:solidFill>
                <a:srgbClr val="FFFFFF"/>
              </a:solidFill>
              <a:latin typeface="Verdana"/>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noRot="1" noChangeAspect="1"/>
          </p:cNvSpPr>
          <p:nvPr>
            <p:ph type="sldImg"/>
          </p:nvPr>
        </p:nvSpPr>
        <p:spPr>
          <a:xfrm>
            <a:off x="1181160" y="696960"/>
            <a:ext cx="4648320" cy="3486240"/>
          </a:xfrm>
          <a:prstGeom prst="rect">
            <a:avLst/>
          </a:prstGeom>
          <a:ln w="0">
            <a:noFill/>
          </a:ln>
        </p:spPr>
      </p:sp>
      <p:sp>
        <p:nvSpPr>
          <p:cNvPr id="278"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This slide walks through the full restore procedure using a secondary IRIS instance. The file system is restored first, then the secondary instance performs the database and journal restores for the primary instance's files. The secondary instance is then shut down, the primary instance's WIJ is removed, and the primary is started in Emergency Access mode to finalize recovery. Optional validation steps can be performed before restarting normally to allow users to connect.</a:t>
            </a:r>
          </a:p>
        </p:txBody>
      </p:sp>
      <p:sp>
        <p:nvSpPr>
          <p:cNvPr id="279"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80"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5D3A04A-FCE2-4B0D-8B44-4A4A4647A13A}" type="slidenum">
              <a:rPr lang="en-US" sz="1200" b="0" strike="noStrike" spc="-1">
                <a:solidFill>
                  <a:srgbClr val="FFFFFF"/>
                </a:solidFill>
                <a:latin typeface="Verdana"/>
              </a:rPr>
              <a:t>30</a:t>
            </a:fld>
            <a:endParaRPr lang="en-US" sz="1200" b="1" strike="noStrike" spc="-1">
              <a:solidFill>
                <a:srgbClr val="FFFFFF"/>
              </a:solidFill>
              <a:latin typeface="Verdan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noRot="1" noChangeAspect="1"/>
          </p:cNvSpPr>
          <p:nvPr>
            <p:ph type="sldImg"/>
          </p:nvPr>
        </p:nvSpPr>
        <p:spPr>
          <a:xfrm>
            <a:off x="1181160" y="696960"/>
            <a:ext cx="4648320" cy="3486240"/>
          </a:xfrm>
          <a:prstGeom prst="rect">
            <a:avLst/>
          </a:prstGeom>
          <a:ln w="0">
            <a:noFill/>
          </a:ln>
        </p:spPr>
      </p:sp>
      <p:sp>
        <p:nvSpPr>
          <p:cNvPr id="282"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A partial online restore is simpler than a full restore. Because only some databases are affected, IRIS can still be running — you start in Emergency Access mode to prevent user interference, restore only the affected databases and their journals, perform any validation, then restart normally. This is appropriate when a subset of databases has been lost or corrupted but the rest of the system is intact.</a:t>
            </a:r>
          </a:p>
        </p:txBody>
      </p:sp>
      <p:sp>
        <p:nvSpPr>
          <p:cNvPr id="283"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84"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EFF0CD4-D813-4B16-8C3D-321A1AB0072B}" type="slidenum">
              <a:rPr lang="en-US" sz="1200" b="0" strike="noStrike" spc="-1">
                <a:solidFill>
                  <a:srgbClr val="FFFFFF"/>
                </a:solidFill>
                <a:latin typeface="Verdana"/>
              </a:rPr>
              <a:t>31</a:t>
            </a:fld>
            <a:endParaRPr lang="en-US" sz="1200" b="1" strike="noStrike" spc="-1">
              <a:solidFill>
                <a:srgbClr val="FFFFFF"/>
              </a:solidFill>
              <a:latin typeface="Verdan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86" name="PlaceHolder 1"/>
          <p:cNvSpPr>
            <a:spLocks noGrp="1" noRot="1" noChangeAspect="1"/>
          </p:cNvSpPr>
          <p:nvPr>
            <p:ph type="sldImg"/>
          </p:nvPr>
        </p:nvSpPr>
        <p:spPr>
          <a:xfrm>
            <a:off x="1181160" y="696960"/>
            <a:ext cx="4648320" cy="3486240"/>
          </a:xfrm>
          <a:prstGeom prst="rect">
            <a:avLst/>
          </a:prstGeom>
          <a:ln w="0">
            <a:noFill/>
          </a:ln>
        </p:spPr>
      </p:sp>
      <p:sp>
        <p:nvSpPr>
          <p:cNvPr id="287"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This slide summarizes best practices for maintaining a reliable backup strategy. Backups should be clearly labelled so they can be quickly identified during a recovery situation. A retention policy should define how long different backups are kept — a common tiered approach keeps daily backups for two weeks, weekly for two months, monthly for six months, and quarterly for nine months. Critically, restores should be tested regularly on an alternate server to confirm that backups are actually recoverable. For disaster recovery, backup media should be stored in a secure off-site location.</a:t>
            </a:r>
          </a:p>
        </p:txBody>
      </p:sp>
      <p:sp>
        <p:nvSpPr>
          <p:cNvPr id="288"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9C745BB-0EF8-445B-8ED4-400A54648CA7}" type="slidenum">
              <a:rPr lang="en-US" sz="1200" b="0" strike="noStrike" spc="-1">
                <a:solidFill>
                  <a:srgbClr val="FFFFFF"/>
                </a:solidFill>
                <a:latin typeface="Verdana"/>
              </a:rPr>
              <a:t>32</a:t>
            </a:fld>
            <a:endParaRPr lang="en-US" sz="1200" b="1" strike="noStrike" spc="-1">
              <a:solidFill>
                <a:srgbClr val="FFFFFF"/>
              </a:solidFill>
              <a:latin typeface="Verdana"/>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noRot="1" noChangeAspect="1"/>
          </p:cNvSpPr>
          <p:nvPr>
            <p:ph type="sldImg"/>
          </p:nvPr>
        </p:nvSpPr>
        <p:spPr>
          <a:xfrm>
            <a:off x="1181160" y="696960"/>
            <a:ext cx="4648320" cy="3486240"/>
          </a:xfrm>
          <a:prstGeom prst="rect">
            <a:avLst/>
          </a:prstGeom>
          <a:ln w="0">
            <a:noFill/>
          </a:ln>
        </p:spPr>
      </p:sp>
      <p:sp>
        <p:nvSpPr>
          <p:cNvPr id="290"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This slide points to additional reading materials. The Developer Community article covers VM-level backup considerations and freeze/thaw scripting. The Data Integrity Guide Backup and Restore chapter is the authoritative reference for all the topics covered in this module. The High Availability Guide Failover Strategies chapter provides context on how backup fits into a broader availability and disaster recovery strategy.</a:t>
            </a:r>
          </a:p>
        </p:txBody>
      </p:sp>
      <p:sp>
        <p:nvSpPr>
          <p:cNvPr id="291" name="Header Placeholder 3"/>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92"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0B528A5-9934-47CB-AE74-1EF719761EC3}" type="slidenum">
              <a:rPr lang="en-US" sz="1200" b="0" strike="noStrike" spc="-1">
                <a:solidFill>
                  <a:srgbClr val="FFFFFF"/>
                </a:solidFill>
                <a:latin typeface="Verdana"/>
              </a:rPr>
              <a:t>33</a:t>
            </a:fld>
            <a:endParaRPr lang="en-US" sz="1200" b="1" strike="noStrike" spc="-1">
              <a:solidFill>
                <a:srgbClr val="FFFFFF"/>
              </a:solidFill>
              <a:latin typeface="Verdan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Rectangle 2"/>
          <p:cNvSpPr/>
          <p:nvPr/>
        </p:nvSpPr>
        <p:spPr>
          <a:xfrm>
            <a:off x="1986120" y="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t">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FFFFFF"/>
                </a:solidFill>
                <a:latin typeface="Verdana"/>
              </a:rPr>
              <a:t>Backup</a:t>
            </a:r>
            <a:endParaRPr lang="en-US" sz="1200" b="1" strike="noStrike" spc="-1">
              <a:solidFill>
                <a:srgbClr val="FFFFFF"/>
              </a:solidFill>
              <a:latin typeface="Verdana"/>
            </a:endParaRPr>
          </a:p>
        </p:txBody>
      </p:sp>
      <p:sp>
        <p:nvSpPr>
          <p:cNvPr id="294" name="PlaceHolder 1"/>
          <p:cNvSpPr>
            <a:spLocks noGrp="1" noRot="1" noChangeAspect="1"/>
          </p:cNvSpPr>
          <p:nvPr>
            <p:ph type="sldImg"/>
          </p:nvPr>
        </p:nvSpPr>
        <p:spPr>
          <a:xfrm>
            <a:off x="1181160" y="696960"/>
            <a:ext cx="4648320" cy="3486240"/>
          </a:xfrm>
          <a:prstGeom prst="rect">
            <a:avLst/>
          </a:prstGeom>
          <a:ln w="0">
            <a:noFill/>
          </a:ln>
        </p:spPr>
      </p:sp>
      <p:sp>
        <p:nvSpPr>
          <p:cNvPr id="295" name="PlaceHolder 2"/>
          <p:cNvSpPr>
            <a:spLocks noGrp="1"/>
          </p:cNvSpPr>
          <p:nvPr>
            <p:ph type="body"/>
          </p:nvPr>
        </p:nvSpPr>
        <p:spPr>
          <a:xfrm>
            <a:off x="934560" y="4416120"/>
            <a:ext cx="5140440" cy="4182840"/>
          </a:xfrm>
          <a:prstGeom prst="rect">
            <a:avLst/>
          </a:prstGeom>
          <a:noFill/>
          <a:ln w="0">
            <a:noFill/>
          </a:ln>
        </p:spPr>
        <p:txBody>
          <a:bodyPr lIns="0" tIns="0" rIns="0" bIns="0" anchor="t">
            <a:noAutofit/>
          </a:bodyPr>
          <a:lstStyle/>
          <a:p>
            <a:pPr indent="0">
              <a:spcBef>
                <a:spcPts val="374"/>
              </a:spcBef>
              <a:buNone/>
            </a:pPr>
            <a:r>
              <a:rPr lang="en-US" sz="1000" b="0" strike="noStrike" spc="-1">
                <a:solidFill>
                  <a:srgbClr val="000000"/>
                </a:solidFill>
                <a:latin typeface="Verdana"/>
              </a:rPr>
              <a:t>This is the summary slide for the module. Key takeaways include: the difference between external and online backup approaches; the importance of journaling for transactional consistency during restores; the three types of online backup (full, cumulative, incremental) and how they chain together for restore; how to configure, run, and verify backups in IRIS; and best practices for maintaining a trustworthy backup and recovery strategy.</a:t>
            </a:r>
          </a:p>
        </p:txBody>
      </p:sp>
      <p:sp>
        <p:nvSpPr>
          <p:cNvPr id="296" name="Slide Number Placeholder 5"/>
          <p:cNvSpPr/>
          <p:nvPr/>
        </p:nvSpPr>
        <p:spPr>
          <a:xfrm>
            <a:off x="1979640" y="8831160"/>
            <a:ext cx="3038400" cy="465120"/>
          </a:xfrm>
          <a:prstGeom prst="rect">
            <a:avLst/>
          </a:prstGeom>
          <a:noFill/>
          <a:ln w="0">
            <a:noFill/>
          </a:ln>
        </p:spPr>
        <p:style>
          <a:lnRef idx="0">
            <a:scrgbClr r="0" g="0" b="0"/>
          </a:lnRef>
          <a:fillRef idx="0">
            <a:scrgbClr r="0" g="0" b="0"/>
          </a:fillRef>
          <a:effectRef idx="0">
            <a:scrgbClr r="0" g="0" b="0"/>
          </a:effectRef>
          <a:fontRef idx="minor"/>
        </p:style>
        <p:txBody>
          <a:bodyPr lIns="93240" tIns="46440" rIns="93240" bIns="46440" anchor="b">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270FDAE-66FA-4F61-9129-B13D04752A8F}" type="slidenum">
              <a:rPr lang="en-US" sz="1200" b="0" strike="noStrike" spc="-1">
                <a:solidFill>
                  <a:srgbClr val="FFFFFF"/>
                </a:solidFill>
                <a:latin typeface="Verdana"/>
              </a:rPr>
              <a:t>34</a:t>
            </a:fld>
            <a:endParaRPr lang="en-US" sz="1200" b="1" strike="noStrike" spc="-1">
              <a:solidFill>
                <a:srgbClr val="FFFFFF"/>
              </a:solidFill>
              <a:latin typeface="Verdan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31845"/>
        </a:solidFill>
        <a:effectLst/>
      </p:bgPr>
    </p:bg>
    <p:spTree>
      <p:nvGrpSpPr>
        <p:cNvPr id="1" name=""/>
        <p:cNvGrpSpPr/>
        <p:nvPr/>
      </p:nvGrpSpPr>
      <p:grpSpPr>
        <a:xfrm>
          <a:off x="0" y="0"/>
          <a:ext cx="0" cy="0"/>
          <a:chOff x="0" y="0"/>
          <a:chExt cx="0" cy="0"/>
        </a:xfrm>
      </p:grpSpPr>
      <p:sp>
        <p:nvSpPr>
          <p:cNvPr id="5" name="PlaceHolder 1"/>
          <p:cNvSpPr>
            <a:spLocks noGrp="1"/>
          </p:cNvSpPr>
          <p:nvPr>
            <p:ph type="body"/>
          </p:nvPr>
        </p:nvSpPr>
        <p:spPr>
          <a:xfrm>
            <a:off x="355680" y="1295280"/>
            <a:ext cx="8331120" cy="4724640"/>
          </a:xfrm>
          <a:prstGeom prst="rect">
            <a:avLst/>
          </a:prstGeom>
          <a:noFill/>
          <a:ln w="0">
            <a:noFill/>
          </a:ln>
        </p:spPr>
        <p:txBody>
          <a:bodyPr lIns="90000" tIns="46800" rIns="90000" bIns="46800"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Click to edit the outline text format</a:t>
            </a:r>
          </a:p>
          <a:p>
            <a:pPr marL="743040" lvl="1" indent="-285840">
              <a:spcBef>
                <a:spcPts val="7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Second Outline Level</a:t>
            </a:r>
          </a:p>
          <a:p>
            <a:pPr marL="1143000" lvl="2" indent="-228600">
              <a:spcBef>
                <a:spcPts val="700"/>
              </a:spcBef>
              <a:buClr>
                <a:srgbClr val="EB1515"/>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Third Outline Level</a:t>
            </a:r>
          </a:p>
          <a:p>
            <a:pPr marL="1600200" lvl="3" indent="-228600">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Fourth Outline Level</a:t>
            </a:r>
          </a:p>
          <a:p>
            <a:pPr marL="2057400" lvl="4" indent="-228600">
              <a:spcBef>
                <a:spcPts val="700"/>
              </a:spcBef>
              <a:buClr>
                <a:srgbClr val="FF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Fifth Outline Level</a:t>
            </a:r>
          </a:p>
          <a:p>
            <a:pPr marL="2057400" lvl="5" indent="-228600">
              <a:spcBef>
                <a:spcPts val="700"/>
              </a:spcBef>
              <a:buClr>
                <a:srgbClr val="FFFFFF"/>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Sixth Outline Level</a:t>
            </a:r>
          </a:p>
          <a:p>
            <a:pPr marL="2057400" lvl="6" indent="-228600">
              <a:spcBef>
                <a:spcPts val="700"/>
              </a:spcBef>
              <a:buClr>
                <a:srgbClr val="FFFFFF"/>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Seventh Outline Level</a:t>
            </a:r>
          </a:p>
        </p:txBody>
      </p:sp>
      <p:sp>
        <p:nvSpPr>
          <p:cNvPr id="6" name="PlaceHolder 2"/>
          <p:cNvSpPr>
            <a:spLocks noGrp="1"/>
          </p:cNvSpPr>
          <p:nvPr>
            <p:ph type="title"/>
          </p:nvPr>
        </p:nvSpPr>
        <p:spPr>
          <a:xfrm>
            <a:off x="152280" y="152280"/>
            <a:ext cx="8839440" cy="1067040"/>
          </a:xfrm>
          <a:prstGeom prst="rect">
            <a:avLst/>
          </a:prstGeom>
          <a:noFill/>
          <a:ln w="0">
            <a:noFill/>
          </a:ln>
        </p:spPr>
        <p:txBody>
          <a:bodyPr lIns="90000" tIns="46800" rIns="90000" bIns="4680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Click to edit the title text format</a:t>
            </a:r>
          </a:p>
        </p:txBody>
      </p:sp>
      <p:sp>
        <p:nvSpPr>
          <p:cNvPr id="2" name="Rectangle 7"/>
          <p:cNvSpPr/>
          <p:nvPr/>
        </p:nvSpPr>
        <p:spPr>
          <a:xfrm>
            <a:off x="192240" y="6435720"/>
            <a:ext cx="7046640" cy="4572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indent="0">
              <a:spcBef>
                <a:spcPts val="876"/>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14202A4-1040-41EF-9E97-9A65ECF06E1E}" type="slidenum">
              <a:rPr lang="en-US" sz="1400" b="0" strike="noStrike" spc="-1">
                <a:solidFill>
                  <a:srgbClr val="FFFFFF"/>
                </a:solidFill>
                <a:latin typeface="Verdana"/>
              </a:rPr>
              <a:t>‹#›</a:t>
            </a:fld>
            <a:r>
              <a:rPr lang="en-US" sz="1400" b="0" strike="noStrike" spc="-1">
                <a:solidFill>
                  <a:srgbClr val="FFFFFF"/>
                </a:solidFill>
                <a:latin typeface="Verdana"/>
              </a:rPr>
              <a:t> | Backup</a:t>
            </a:r>
            <a:endParaRPr lang="en-US" sz="1400" b="1" strike="noStrike" spc="-1">
              <a:solidFill>
                <a:srgbClr val="FFFFFF"/>
              </a:solidFill>
              <a:latin typeface="Verdana"/>
            </a:endParaRPr>
          </a:p>
        </p:txBody>
      </p:sp>
      <p:pic>
        <p:nvPicPr>
          <p:cNvPr id="3" name="Picture 8"/>
          <p:cNvPicPr/>
          <p:nvPr/>
        </p:nvPicPr>
        <p:blipFill>
          <a:blip r:embed="rId3"/>
          <a:stretch/>
        </p:blipFill>
        <p:spPr>
          <a:xfrm>
            <a:off x="8713800" y="6350040"/>
            <a:ext cx="176040" cy="468360"/>
          </a:xfrm>
          <a:prstGeom prst="rect">
            <a:avLst/>
          </a:prstGeom>
          <a:ln w="0">
            <a:noFill/>
          </a:ln>
        </p:spPr>
      </p:pic>
      <p:sp>
        <p:nvSpPr>
          <p:cNvPr id="4" name="Straight Connector 9"/>
          <p:cNvSpPr/>
          <p:nvPr/>
        </p:nvSpPr>
        <p:spPr>
          <a:xfrm>
            <a:off x="270000" y="6321600"/>
            <a:ext cx="8619840" cy="0"/>
          </a:xfrm>
          <a:prstGeom prst="line">
            <a:avLst/>
          </a:prstGeom>
          <a:ln w="936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7318A"/>
        </a:solidFill>
        <a:effectLst/>
      </p:bgPr>
    </p:bg>
    <p:spTree>
      <p:nvGrpSpPr>
        <p:cNvPr id="1" name=""/>
        <p:cNvGrpSpPr/>
        <p:nvPr/>
      </p:nvGrpSpPr>
      <p:grpSpPr>
        <a:xfrm>
          <a:off x="0" y="0"/>
          <a:ext cx="0" cy="0"/>
          <a:chOff x="0" y="0"/>
          <a:chExt cx="0" cy="0"/>
        </a:xfrm>
      </p:grpSpPr>
      <p:sp>
        <p:nvSpPr>
          <p:cNvPr id="5" name="Rectangle 1027"/>
          <p:cNvSpPr/>
          <p:nvPr/>
        </p:nvSpPr>
        <p:spPr>
          <a:xfrm>
            <a:off x="4043520" y="3176640"/>
            <a:ext cx="9144000" cy="360"/>
          </a:xfrm>
          <a:prstGeom prst="rect">
            <a:avLst/>
          </a:prstGeom>
          <a:noFill/>
          <a:ln w="0">
            <a:noFill/>
          </a:ln>
        </p:spPr>
        <p:style>
          <a:lnRef idx="0">
            <a:scrgbClr r="0" g="0" b="0"/>
          </a:lnRef>
          <a:fillRef idx="0">
            <a:scrgbClr r="0" g="0" b="0"/>
          </a:fillRef>
          <a:effectRef idx="0">
            <a:scrgbClr r="0" g="0" b="0"/>
          </a:effectRef>
          <a:fontRef idx="minor"/>
        </p:style>
        <p:txBody>
          <a:bodyPr lIns="90000" tIns="-46440" rIns="90000" bIns="-4644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6" name="Rectangle 1028"/>
          <p:cNvSpPr/>
          <p:nvPr/>
        </p:nvSpPr>
        <p:spPr>
          <a:xfrm>
            <a:off x="4043520" y="3176640"/>
            <a:ext cx="9144000" cy="360"/>
          </a:xfrm>
          <a:prstGeom prst="rect">
            <a:avLst/>
          </a:prstGeom>
          <a:noFill/>
          <a:ln w="0">
            <a:noFill/>
          </a:ln>
        </p:spPr>
        <p:style>
          <a:lnRef idx="0">
            <a:scrgbClr r="0" g="0" b="0"/>
          </a:lnRef>
          <a:fillRef idx="0">
            <a:scrgbClr r="0" g="0" b="0"/>
          </a:fillRef>
          <a:effectRef idx="0">
            <a:scrgbClr r="0" g="0" b="0"/>
          </a:effectRef>
          <a:fontRef idx="minor"/>
        </p:style>
        <p:txBody>
          <a:bodyPr lIns="90000" tIns="-46440" rIns="90000" bIns="-4644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7" name="Straight Connector 12"/>
          <p:cNvSpPr/>
          <p:nvPr/>
        </p:nvSpPr>
        <p:spPr>
          <a:xfrm>
            <a:off x="0" y="3962520"/>
            <a:ext cx="9144000" cy="0"/>
          </a:xfrm>
          <a:prstGeom prst="line">
            <a:avLst/>
          </a:prstGeom>
          <a:ln w="2556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8" name="Straight Connector 13"/>
          <p:cNvSpPr/>
          <p:nvPr/>
        </p:nvSpPr>
        <p:spPr>
          <a:xfrm>
            <a:off x="0" y="1828800"/>
            <a:ext cx="9144000" cy="0"/>
          </a:xfrm>
          <a:prstGeom prst="line">
            <a:avLst/>
          </a:prstGeom>
          <a:ln w="2556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pic>
        <p:nvPicPr>
          <p:cNvPr id="9" name="Picture 11"/>
          <p:cNvPicPr/>
          <p:nvPr/>
        </p:nvPicPr>
        <p:blipFill>
          <a:blip r:embed="rId3"/>
          <a:stretch/>
        </p:blipFill>
        <p:spPr>
          <a:xfrm>
            <a:off x="6400800" y="2606760"/>
            <a:ext cx="2322360" cy="637920"/>
          </a:xfrm>
          <a:prstGeom prst="rect">
            <a:avLst/>
          </a:prstGeom>
          <a:ln w="0">
            <a:noFill/>
          </a:ln>
        </p:spPr>
      </p:pic>
      <p:sp>
        <p:nvSpPr>
          <p:cNvPr id="10" name="PlaceHolder 1"/>
          <p:cNvSpPr>
            <a:spLocks noGrp="1"/>
          </p:cNvSpPr>
          <p:nvPr>
            <p:ph type="body"/>
          </p:nvPr>
        </p:nvSpPr>
        <p:spPr>
          <a:xfrm>
            <a:off x="355680" y="1295280"/>
            <a:ext cx="8331120" cy="4724640"/>
          </a:xfrm>
          <a:prstGeom prst="rect">
            <a:avLst/>
          </a:prstGeom>
          <a:noFill/>
          <a:ln w="0">
            <a:noFill/>
          </a:ln>
        </p:spPr>
        <p:txBody>
          <a:bodyPr lIns="90000" tIns="46800" rIns="90000" bIns="46800"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Click to edit the outline text format</a:t>
            </a:r>
          </a:p>
          <a:p>
            <a:pPr marL="743040" lvl="1" indent="-285840">
              <a:spcBef>
                <a:spcPts val="7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Second Outline Level</a:t>
            </a:r>
          </a:p>
          <a:p>
            <a:pPr marL="1143000" lvl="2" indent="-228600">
              <a:spcBef>
                <a:spcPts val="700"/>
              </a:spcBef>
              <a:buClr>
                <a:srgbClr val="EB1515"/>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Third Outline Level</a:t>
            </a:r>
          </a:p>
          <a:p>
            <a:pPr marL="1600200" lvl="3" indent="-228600">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Fourth Outline Level</a:t>
            </a:r>
          </a:p>
          <a:p>
            <a:pPr marL="2057400" lvl="4" indent="-228600">
              <a:spcBef>
                <a:spcPts val="700"/>
              </a:spcBef>
              <a:buClr>
                <a:srgbClr val="FF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Fifth Outline Level</a:t>
            </a:r>
          </a:p>
          <a:p>
            <a:pPr marL="2057400" lvl="5" indent="-228600">
              <a:spcBef>
                <a:spcPts val="700"/>
              </a:spcBef>
              <a:buClr>
                <a:srgbClr val="FFFFFF"/>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Sixth Outline Level</a:t>
            </a:r>
          </a:p>
          <a:p>
            <a:pPr marL="2057400" lvl="6" indent="-228600">
              <a:spcBef>
                <a:spcPts val="700"/>
              </a:spcBef>
              <a:buClr>
                <a:srgbClr val="FFFFFF"/>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Seventh Outline Level</a:t>
            </a:r>
          </a:p>
        </p:txBody>
      </p:sp>
      <p:sp>
        <p:nvSpPr>
          <p:cNvPr id="11" name="PlaceHolder 2"/>
          <p:cNvSpPr>
            <a:spLocks noGrp="1"/>
          </p:cNvSpPr>
          <p:nvPr>
            <p:ph type="title"/>
          </p:nvPr>
        </p:nvSpPr>
        <p:spPr>
          <a:xfrm>
            <a:off x="152280" y="152280"/>
            <a:ext cx="8839440" cy="1067040"/>
          </a:xfrm>
          <a:prstGeom prst="rect">
            <a:avLst/>
          </a:prstGeom>
          <a:noFill/>
          <a:ln w="0">
            <a:noFill/>
          </a:ln>
        </p:spPr>
        <p:txBody>
          <a:bodyPr lIns="90000" tIns="46800" rIns="90000" bIns="4680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Click to edit the title text format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community.intersystems.com/node/423776"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www.intersystems.com"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91800" y="2166480"/>
            <a:ext cx="6080040" cy="1444680"/>
          </a:xfrm>
          <a:prstGeom prst="rect">
            <a:avLst/>
          </a:prstGeom>
          <a:noFill/>
          <a:ln w="0">
            <a:noFill/>
          </a:ln>
        </p:spPr>
        <p:txBody>
          <a:bodyPr lIns="91440" tIns="45720" rIns="91440" bIns="4572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FFFFFF"/>
                </a:solidFill>
                <a:latin typeface="Verdana"/>
              </a:rPr>
              <a:t>Backup</a:t>
            </a:r>
            <a:endParaRPr lang="en-US" sz="4400" b="0" strike="noStrike" spc="-1">
              <a:solidFill>
                <a:srgbClr val="FFFF66"/>
              </a:solidFill>
              <a:latin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External backup and restore.</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Online backup and restore.</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Best Practices.</a:t>
            </a:r>
          </a:p>
        </p:txBody>
      </p:sp>
      <p:sp>
        <p:nvSpPr>
          <p:cNvPr id="20"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Directories: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Database.</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External and internal backup options exist.</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Installation.</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Journal.</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Alternate Journal.</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Any directory containing external files.</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WIJ.</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If not under installation directory.</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FFFF66"/>
              </a:solidFill>
              <a:latin typeface="Verdana"/>
            </a:endParaRP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FFFF66"/>
              </a:solidFill>
              <a:latin typeface="Verdana"/>
            </a:endParaRPr>
          </a:p>
        </p:txBody>
      </p:sp>
      <p:sp>
        <p:nvSpPr>
          <p:cNvPr id="22"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Items to Backup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External Backups</a:t>
            </a:r>
          </a:p>
        </p:txBody>
      </p:sp>
      <p:sp>
        <p:nvSpPr>
          <p:cNvPr id="24" name="TextBox 23"/>
          <p:cNvSpPr txBox="1"/>
          <p:nvPr/>
        </p:nvSpPr>
        <p:spPr>
          <a:xfrm>
            <a:off x="355680" y="1295280"/>
            <a:ext cx="8331120" cy="2286000"/>
          </a:xfrm>
          <a:prstGeom prst="rect">
            <a:avLst/>
          </a:prstGeom>
          <a:noFill/>
          <a:ln w="0">
            <a:noFill/>
          </a:ln>
        </p:spPr>
        <p:txBody>
          <a:bodyPr anchor="t">
            <a:normAutofit/>
          </a:bodyPr>
          <a:lstStyle/>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Can backup databases using </a:t>
            </a:r>
            <a:r>
              <a:rPr lang="en-US" sz="2400" b="1" strike="noStrike" spc="-1" dirty="0">
                <a:solidFill>
                  <a:srgbClr val="FFFF66"/>
                </a:solidFill>
                <a:latin typeface="Verdana"/>
              </a:rPr>
              <a:t>non-InterSystems backup solutions.</a:t>
            </a:r>
          </a:p>
          <a:p>
            <a:pPr marL="743040" lvl="1" indent="-285840">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66"/>
                </a:solidFill>
                <a:latin typeface="Verdana"/>
              </a:rPr>
              <a:t>Back up IRIS.DAT files only when not being changed.</a:t>
            </a:r>
          </a:p>
        </p:txBody>
      </p:sp>
      <p:grpSp>
        <p:nvGrpSpPr>
          <p:cNvPr id="25" name="Group 26"/>
          <p:cNvGrpSpPr/>
          <p:nvPr/>
        </p:nvGrpSpPr>
        <p:grpSpPr>
          <a:xfrm>
            <a:off x="1200240" y="3720960"/>
            <a:ext cx="6743520" cy="1613160"/>
            <a:chOff x="1200240" y="3720960"/>
            <a:chExt cx="6743520" cy="1613160"/>
          </a:xfrm>
        </p:grpSpPr>
        <p:sp>
          <p:nvSpPr>
            <p:cNvPr id="26" name="AutoShape 4"/>
            <p:cNvSpPr/>
            <p:nvPr/>
          </p:nvSpPr>
          <p:spPr>
            <a:xfrm>
              <a:off x="1200240" y="3720960"/>
              <a:ext cx="2080800" cy="1613160"/>
            </a:xfrm>
            <a:prstGeom prst="flowChartMagneticDisk">
              <a:avLst/>
            </a:prstGeom>
            <a:solidFill>
              <a:srgbClr val="B2B2B2"/>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IRIS.DAT</a:t>
              </a:r>
              <a:endParaRPr lang="en-US" sz="2400" b="1" strike="noStrike" spc="-1">
                <a:solidFill>
                  <a:srgbClr val="FFFFFF"/>
                </a:solidFill>
                <a:latin typeface="Verdana"/>
              </a:endParaRPr>
            </a:p>
          </p:txBody>
        </p:sp>
        <p:sp>
          <p:nvSpPr>
            <p:cNvPr id="27" name="AutoShape 22"/>
            <p:cNvSpPr/>
            <p:nvPr/>
          </p:nvSpPr>
          <p:spPr>
            <a:xfrm>
              <a:off x="3413880" y="4146480"/>
              <a:ext cx="3152880" cy="761760"/>
            </a:xfrm>
            <a:prstGeom prst="rightArrow">
              <a:avLst>
                <a:gd name="adj1" fmla="val 50000"/>
                <a:gd name="adj2" fmla="val 62525"/>
              </a:avLst>
            </a:prstGeom>
            <a:solidFill>
              <a:srgbClr val="FF0000"/>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External Backup</a:t>
              </a:r>
              <a:endParaRPr lang="en-US" sz="2400" b="1" strike="noStrike" spc="-1">
                <a:solidFill>
                  <a:srgbClr val="FFFFFF"/>
                </a:solidFill>
                <a:latin typeface="Verdana"/>
              </a:endParaRPr>
            </a:p>
          </p:txBody>
        </p:sp>
        <p:pic>
          <p:nvPicPr>
            <p:cNvPr id="28" name="Graphic 21" descr="Database outline"/>
            <p:cNvPicPr/>
            <p:nvPr/>
          </p:nvPicPr>
          <p:blipFill>
            <a:blip r:embed="rId3"/>
            <a:stretch/>
          </p:blipFill>
          <p:spPr>
            <a:xfrm>
              <a:off x="6330960" y="3720960"/>
              <a:ext cx="1612800" cy="1613160"/>
            </a:xfrm>
            <a:prstGeom prst="rect">
              <a:avLst/>
            </a:prstGeom>
            <a:ln w="0">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External Backup.</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IRIS runs during backup of OS files.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Recommended backup method.</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a:solidFill>
                <a:srgbClr val="FFFF66"/>
              </a:solidFill>
              <a:latin typeface="Verdana"/>
            </a:endParaRP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a:solidFill>
                <a:srgbClr val="FFFF66"/>
              </a:solidFill>
              <a:latin typeface="Verdana"/>
            </a:endParaRP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a:solidFill>
                <a:srgbClr val="FFFF66"/>
              </a:solidFill>
              <a:latin typeface="Verdana"/>
            </a:endParaRP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Cold Backup.</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IRIS stopped during backup of OS files.</a:t>
            </a:r>
          </a:p>
        </p:txBody>
      </p:sp>
      <p:sp>
        <p:nvSpPr>
          <p:cNvPr id="30"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External Backup Approaches</a:t>
            </a:r>
          </a:p>
        </p:txBody>
      </p:sp>
      <p:pic>
        <p:nvPicPr>
          <p:cNvPr id="31" name="Picture 2"/>
          <p:cNvPicPr/>
          <p:nvPr/>
        </p:nvPicPr>
        <p:blipFill>
          <a:blip r:embed="rId3"/>
          <a:stretch/>
        </p:blipFill>
        <p:spPr>
          <a:xfrm>
            <a:off x="406440" y="2719440"/>
            <a:ext cx="8331120" cy="1233360"/>
          </a:xfrm>
          <a:prstGeom prst="rect">
            <a:avLst/>
          </a:prstGeom>
          <a:ln w="9360">
            <a:solidFill>
              <a:srgbClr val="1C1C1C"/>
            </a:solidFill>
            <a:miter/>
          </a:ln>
        </p:spPr>
      </p:pic>
      <p:pic>
        <p:nvPicPr>
          <p:cNvPr id="32" name="Picture 4"/>
          <p:cNvPicPr/>
          <p:nvPr/>
        </p:nvPicPr>
        <p:blipFill>
          <a:blip r:embed="rId4"/>
          <a:stretch/>
        </p:blipFill>
        <p:spPr>
          <a:xfrm>
            <a:off x="406440" y="5013360"/>
            <a:ext cx="8331120" cy="1006560"/>
          </a:xfrm>
          <a:prstGeom prst="rect">
            <a:avLst/>
          </a:prstGeom>
          <a:ln w="9360">
            <a:solidFill>
              <a:srgbClr val="1C1C1C"/>
            </a:solidFill>
            <a:miter/>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External Backup</a:t>
            </a:r>
          </a:p>
        </p:txBody>
      </p:sp>
      <p:sp>
        <p:nvSpPr>
          <p:cNvPr id="34" name="PlaceHolder 2"/>
          <p:cNvSpPr>
            <a:spLocks noGrp="1"/>
          </p:cNvSpPr>
          <p:nvPr>
            <p:ph/>
          </p:nvPr>
        </p:nvSpPr>
        <p:spPr>
          <a:xfrm>
            <a:off x="355680" y="1219320"/>
            <a:ext cx="8331120" cy="2286000"/>
          </a:xfrm>
          <a:prstGeom prst="rect">
            <a:avLst/>
          </a:prstGeom>
          <a:noFill/>
          <a:ln w="0">
            <a:noFill/>
          </a:ln>
        </p:spPr>
        <p:txBody>
          <a:bodyPr lIns="91440" tIns="45720" rIns="91440" bIns="45720" anchor="t">
            <a:normAutofit/>
          </a:bodyPr>
          <a:lstStyle/>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Freeze Write Daemon during external backup using methods of Backup.General class.</a:t>
            </a:r>
          </a:p>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Use snapshot technology to copy OS files.</a:t>
            </a:r>
          </a:p>
          <a:p>
            <a:pPr marL="743040" lvl="1" indent="-285840">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Can use with file system copy, if needed.</a:t>
            </a:r>
          </a:p>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Allows uninterrupted processing if free global buffers remain during external backup.</a:t>
            </a:r>
          </a:p>
        </p:txBody>
      </p:sp>
      <p:sp>
        <p:nvSpPr>
          <p:cNvPr id="35" name="AutoShape 4"/>
          <p:cNvSpPr/>
          <p:nvPr/>
        </p:nvSpPr>
        <p:spPr>
          <a:xfrm>
            <a:off x="685800" y="3495600"/>
            <a:ext cx="3505320" cy="2752920"/>
          </a:xfrm>
          <a:prstGeom prst="flowChartMagneticDisk">
            <a:avLst/>
          </a:prstGeom>
          <a:solidFill>
            <a:srgbClr val="B2B2B2"/>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36" name="Text Box 6"/>
          <p:cNvSpPr/>
          <p:nvPr/>
        </p:nvSpPr>
        <p:spPr>
          <a:xfrm>
            <a:off x="6156360" y="3559320"/>
            <a:ext cx="2514600" cy="703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1. Prevent writes to database</a:t>
            </a:r>
            <a:endParaRPr lang="en-US" sz="2000" b="1" strike="noStrike" spc="-1">
              <a:solidFill>
                <a:srgbClr val="FFFFFF"/>
              </a:solidFill>
              <a:latin typeface="Verdana"/>
            </a:endParaRPr>
          </a:p>
        </p:txBody>
      </p:sp>
      <p:grpSp>
        <p:nvGrpSpPr>
          <p:cNvPr id="37" name="Group 7"/>
          <p:cNvGrpSpPr/>
          <p:nvPr/>
        </p:nvGrpSpPr>
        <p:grpSpPr>
          <a:xfrm>
            <a:off x="2057400" y="4508640"/>
            <a:ext cx="799920" cy="1221840"/>
            <a:chOff x="2057400" y="4508640"/>
            <a:chExt cx="799920" cy="1221840"/>
          </a:xfrm>
        </p:grpSpPr>
        <p:sp>
          <p:nvSpPr>
            <p:cNvPr id="38" name="Rectangle 8"/>
            <p:cNvSpPr/>
            <p:nvPr/>
          </p:nvSpPr>
          <p:spPr>
            <a:xfrm>
              <a:off x="2214360" y="4730760"/>
              <a:ext cx="484200" cy="99972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39" name="Freeform 9"/>
            <p:cNvSpPr/>
            <p:nvPr/>
          </p:nvSpPr>
          <p:spPr>
            <a:xfrm>
              <a:off x="2357280" y="4830480"/>
              <a:ext cx="219240" cy="220320"/>
            </a:xfrm>
            <a:custGeom>
              <a:avLst/>
              <a:gdLst>
                <a:gd name="textAreaLeft" fmla="*/ 0 w 219240"/>
                <a:gd name="textAreaRight" fmla="*/ 219600 w 219240"/>
                <a:gd name="textAreaTop" fmla="*/ 0 h 220320"/>
                <a:gd name="textAreaBottom" fmla="*/ 220680 h 220320"/>
              </a:gdLst>
              <a:ahLst/>
              <a:cxnLst/>
              <a:rect l="textAreaLeft" t="textAreaTop" r="textAreaRight" b="textAreaBottom"/>
              <a:pathLst>
                <a:path w="277" h="278">
                  <a:moveTo>
                    <a:pt x="139" y="278"/>
                  </a:moveTo>
                  <a:lnTo>
                    <a:pt x="166" y="274"/>
                  </a:lnTo>
                  <a:lnTo>
                    <a:pt x="192" y="267"/>
                  </a:lnTo>
                  <a:lnTo>
                    <a:pt x="216" y="254"/>
                  </a:lnTo>
                  <a:lnTo>
                    <a:pt x="236" y="237"/>
                  </a:lnTo>
                  <a:lnTo>
                    <a:pt x="253" y="217"/>
                  </a:lnTo>
                  <a:lnTo>
                    <a:pt x="266" y="193"/>
                  </a:lnTo>
                  <a:lnTo>
                    <a:pt x="273" y="167"/>
                  </a:lnTo>
                  <a:lnTo>
                    <a:pt x="277" y="140"/>
                  </a:lnTo>
                  <a:lnTo>
                    <a:pt x="273" y="112"/>
                  </a:lnTo>
                  <a:lnTo>
                    <a:pt x="266" y="84"/>
                  </a:lnTo>
                  <a:lnTo>
                    <a:pt x="253" y="61"/>
                  </a:lnTo>
                  <a:lnTo>
                    <a:pt x="236" y="40"/>
                  </a:lnTo>
                  <a:lnTo>
                    <a:pt x="216" y="24"/>
                  </a:lnTo>
                  <a:lnTo>
                    <a:pt x="192" y="11"/>
                  </a:lnTo>
                  <a:lnTo>
                    <a:pt x="166" y="3"/>
                  </a:lnTo>
                  <a:lnTo>
                    <a:pt x="139" y="0"/>
                  </a:lnTo>
                  <a:lnTo>
                    <a:pt x="111" y="3"/>
                  </a:lnTo>
                  <a:lnTo>
                    <a:pt x="85" y="11"/>
                  </a:lnTo>
                  <a:lnTo>
                    <a:pt x="61" y="24"/>
                  </a:lnTo>
                  <a:lnTo>
                    <a:pt x="41" y="40"/>
                  </a:lnTo>
                  <a:lnTo>
                    <a:pt x="24" y="61"/>
                  </a:lnTo>
                  <a:lnTo>
                    <a:pt x="11" y="84"/>
                  </a:lnTo>
                  <a:lnTo>
                    <a:pt x="4" y="112"/>
                  </a:lnTo>
                  <a:lnTo>
                    <a:pt x="0" y="140"/>
                  </a:lnTo>
                  <a:lnTo>
                    <a:pt x="4" y="167"/>
                  </a:lnTo>
                  <a:lnTo>
                    <a:pt x="11" y="193"/>
                  </a:lnTo>
                  <a:lnTo>
                    <a:pt x="24" y="217"/>
                  </a:lnTo>
                  <a:lnTo>
                    <a:pt x="41" y="237"/>
                  </a:lnTo>
                  <a:lnTo>
                    <a:pt x="61" y="254"/>
                  </a:lnTo>
                  <a:lnTo>
                    <a:pt x="85" y="267"/>
                  </a:lnTo>
                  <a:lnTo>
                    <a:pt x="111" y="274"/>
                  </a:lnTo>
                  <a:lnTo>
                    <a:pt x="139" y="27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0" name="Freeform 10"/>
            <p:cNvSpPr/>
            <p:nvPr/>
          </p:nvSpPr>
          <p:spPr>
            <a:xfrm>
              <a:off x="2357280" y="5110200"/>
              <a:ext cx="219240" cy="218520"/>
            </a:xfrm>
            <a:custGeom>
              <a:avLst/>
              <a:gdLst>
                <a:gd name="textAreaLeft" fmla="*/ 0 w 219240"/>
                <a:gd name="textAreaRight" fmla="*/ 219600 w 219240"/>
                <a:gd name="textAreaTop" fmla="*/ 0 h 218520"/>
                <a:gd name="textAreaBottom" fmla="*/ 218880 h 218520"/>
              </a:gdLst>
              <a:ahLst/>
              <a:cxnLst/>
              <a:rect l="textAreaLeft" t="textAreaTop" r="textAreaRight" b="textAreaBottom"/>
              <a:pathLst>
                <a:path w="277" h="276">
                  <a:moveTo>
                    <a:pt x="139" y="276"/>
                  </a:moveTo>
                  <a:lnTo>
                    <a:pt x="166" y="272"/>
                  </a:lnTo>
                  <a:lnTo>
                    <a:pt x="192" y="265"/>
                  </a:lnTo>
                  <a:lnTo>
                    <a:pt x="216" y="252"/>
                  </a:lnTo>
                  <a:lnTo>
                    <a:pt x="236" y="235"/>
                  </a:lnTo>
                  <a:lnTo>
                    <a:pt x="253" y="215"/>
                  </a:lnTo>
                  <a:lnTo>
                    <a:pt x="266" y="191"/>
                  </a:lnTo>
                  <a:lnTo>
                    <a:pt x="273" y="165"/>
                  </a:lnTo>
                  <a:lnTo>
                    <a:pt x="277" y="138"/>
                  </a:lnTo>
                  <a:lnTo>
                    <a:pt x="273" y="110"/>
                  </a:lnTo>
                  <a:lnTo>
                    <a:pt x="266" y="84"/>
                  </a:lnTo>
                  <a:lnTo>
                    <a:pt x="253" y="60"/>
                  </a:lnTo>
                  <a:lnTo>
                    <a:pt x="236" y="40"/>
                  </a:lnTo>
                  <a:lnTo>
                    <a:pt x="216" y="24"/>
                  </a:lnTo>
                  <a:lnTo>
                    <a:pt x="192" y="11"/>
                  </a:lnTo>
                  <a:lnTo>
                    <a:pt x="166" y="1"/>
                  </a:lnTo>
                  <a:lnTo>
                    <a:pt x="139" y="0"/>
                  </a:lnTo>
                  <a:lnTo>
                    <a:pt x="111" y="1"/>
                  </a:lnTo>
                  <a:lnTo>
                    <a:pt x="85" y="11"/>
                  </a:lnTo>
                  <a:lnTo>
                    <a:pt x="61" y="24"/>
                  </a:lnTo>
                  <a:lnTo>
                    <a:pt x="41" y="40"/>
                  </a:lnTo>
                  <a:lnTo>
                    <a:pt x="24" y="60"/>
                  </a:lnTo>
                  <a:lnTo>
                    <a:pt x="11" y="84"/>
                  </a:lnTo>
                  <a:lnTo>
                    <a:pt x="4" y="110"/>
                  </a:lnTo>
                  <a:lnTo>
                    <a:pt x="0" y="138"/>
                  </a:lnTo>
                  <a:lnTo>
                    <a:pt x="4" y="165"/>
                  </a:lnTo>
                  <a:lnTo>
                    <a:pt x="11" y="191"/>
                  </a:lnTo>
                  <a:lnTo>
                    <a:pt x="24" y="215"/>
                  </a:lnTo>
                  <a:lnTo>
                    <a:pt x="41" y="235"/>
                  </a:lnTo>
                  <a:lnTo>
                    <a:pt x="61" y="252"/>
                  </a:lnTo>
                  <a:lnTo>
                    <a:pt x="85" y="265"/>
                  </a:lnTo>
                  <a:lnTo>
                    <a:pt x="111" y="272"/>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1" name="Freeform 11"/>
            <p:cNvSpPr/>
            <p:nvPr/>
          </p:nvSpPr>
          <p:spPr>
            <a:xfrm>
              <a:off x="2357280" y="5394240"/>
              <a:ext cx="219240" cy="218520"/>
            </a:xfrm>
            <a:custGeom>
              <a:avLst/>
              <a:gdLst>
                <a:gd name="textAreaLeft" fmla="*/ 0 w 219240"/>
                <a:gd name="textAreaRight" fmla="*/ 219600 w 219240"/>
                <a:gd name="textAreaTop" fmla="*/ 0 h 218520"/>
                <a:gd name="textAreaBottom" fmla="*/ 218880 h 218520"/>
              </a:gdLst>
              <a:ahLst/>
              <a:cxnLst/>
              <a:rect l="textAreaLeft" t="textAreaTop" r="textAreaRight" b="textAreaBottom"/>
              <a:pathLst>
                <a:path w="277" h="276">
                  <a:moveTo>
                    <a:pt x="139" y="276"/>
                  </a:moveTo>
                  <a:lnTo>
                    <a:pt x="166" y="273"/>
                  </a:lnTo>
                  <a:lnTo>
                    <a:pt x="192" y="265"/>
                  </a:lnTo>
                  <a:lnTo>
                    <a:pt x="216" y="252"/>
                  </a:lnTo>
                  <a:lnTo>
                    <a:pt x="236" y="236"/>
                  </a:lnTo>
                  <a:lnTo>
                    <a:pt x="253" y="216"/>
                  </a:lnTo>
                  <a:lnTo>
                    <a:pt x="266" y="192"/>
                  </a:lnTo>
                  <a:lnTo>
                    <a:pt x="273" y="166"/>
                  </a:lnTo>
                  <a:lnTo>
                    <a:pt x="277" y="138"/>
                  </a:lnTo>
                  <a:lnTo>
                    <a:pt x="273" y="111"/>
                  </a:lnTo>
                  <a:lnTo>
                    <a:pt x="266" y="85"/>
                  </a:lnTo>
                  <a:lnTo>
                    <a:pt x="253" y="61"/>
                  </a:lnTo>
                  <a:lnTo>
                    <a:pt x="236" y="41"/>
                  </a:lnTo>
                  <a:lnTo>
                    <a:pt x="216" y="24"/>
                  </a:lnTo>
                  <a:lnTo>
                    <a:pt x="192" y="11"/>
                  </a:lnTo>
                  <a:lnTo>
                    <a:pt x="166" y="2"/>
                  </a:lnTo>
                  <a:lnTo>
                    <a:pt x="139" y="0"/>
                  </a:lnTo>
                  <a:lnTo>
                    <a:pt x="111" y="2"/>
                  </a:lnTo>
                  <a:lnTo>
                    <a:pt x="85" y="11"/>
                  </a:lnTo>
                  <a:lnTo>
                    <a:pt x="61" y="24"/>
                  </a:lnTo>
                  <a:lnTo>
                    <a:pt x="41" y="41"/>
                  </a:lnTo>
                  <a:lnTo>
                    <a:pt x="24" y="61"/>
                  </a:lnTo>
                  <a:lnTo>
                    <a:pt x="11" y="85"/>
                  </a:lnTo>
                  <a:lnTo>
                    <a:pt x="4" y="111"/>
                  </a:lnTo>
                  <a:lnTo>
                    <a:pt x="0" y="138"/>
                  </a:lnTo>
                  <a:lnTo>
                    <a:pt x="4" y="166"/>
                  </a:lnTo>
                  <a:lnTo>
                    <a:pt x="11" y="192"/>
                  </a:lnTo>
                  <a:lnTo>
                    <a:pt x="24" y="216"/>
                  </a:lnTo>
                  <a:lnTo>
                    <a:pt x="41" y="236"/>
                  </a:lnTo>
                  <a:lnTo>
                    <a:pt x="61" y="252"/>
                  </a:lnTo>
                  <a:lnTo>
                    <a:pt x="85" y="265"/>
                  </a:lnTo>
                  <a:lnTo>
                    <a:pt x="111" y="273"/>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2" name="Rectangle 12"/>
            <p:cNvSpPr/>
            <p:nvPr/>
          </p:nvSpPr>
          <p:spPr>
            <a:xfrm>
              <a:off x="2178000" y="4686120"/>
              <a:ext cx="558720" cy="7740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30600" rIns="90000" bIns="306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43" name="Freeform 13"/>
            <p:cNvSpPr/>
            <p:nvPr/>
          </p:nvSpPr>
          <p:spPr>
            <a:xfrm>
              <a:off x="2057400" y="4816440"/>
              <a:ext cx="215640" cy="199440"/>
            </a:xfrm>
            <a:custGeom>
              <a:avLst/>
              <a:gdLst>
                <a:gd name="textAreaLeft" fmla="*/ 0 w 215640"/>
                <a:gd name="textAreaRight" fmla="*/ 216000 w 215640"/>
                <a:gd name="textAreaTop" fmla="*/ 0 h 199440"/>
                <a:gd name="textAreaBottom" fmla="*/ 199800 h 19944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4" name="Freeform 14"/>
            <p:cNvSpPr/>
            <p:nvPr/>
          </p:nvSpPr>
          <p:spPr>
            <a:xfrm>
              <a:off x="2057400" y="5087880"/>
              <a:ext cx="215640" cy="201240"/>
            </a:xfrm>
            <a:custGeom>
              <a:avLst/>
              <a:gdLst>
                <a:gd name="textAreaLeft" fmla="*/ 0 w 215640"/>
                <a:gd name="textAreaRight" fmla="*/ 216000 w 215640"/>
                <a:gd name="textAreaTop" fmla="*/ 0 h 201240"/>
                <a:gd name="textAreaBottom" fmla="*/ 201600 h 201240"/>
              </a:gdLst>
              <a:ahLst/>
              <a:cxnLst/>
              <a:rect l="textAreaLeft" t="textAreaTop" r="textAreaRight" b="textAreaBottom"/>
              <a:pathLst>
                <a:path w="273" h="252">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2"/>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5" name="Freeform 15"/>
            <p:cNvSpPr/>
            <p:nvPr/>
          </p:nvSpPr>
          <p:spPr>
            <a:xfrm>
              <a:off x="2057400" y="537516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6" name="Freeform 16"/>
            <p:cNvSpPr/>
            <p:nvPr/>
          </p:nvSpPr>
          <p:spPr>
            <a:xfrm>
              <a:off x="2641680" y="4816440"/>
              <a:ext cx="215640" cy="199440"/>
            </a:xfrm>
            <a:custGeom>
              <a:avLst/>
              <a:gdLst>
                <a:gd name="textAreaLeft" fmla="*/ 0 w 215640"/>
                <a:gd name="textAreaRight" fmla="*/ 216000 w 215640"/>
                <a:gd name="textAreaTop" fmla="*/ 0 h 199440"/>
                <a:gd name="textAreaBottom" fmla="*/ 199800 h 19944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7" name="Freeform 17"/>
            <p:cNvSpPr/>
            <p:nvPr/>
          </p:nvSpPr>
          <p:spPr>
            <a:xfrm>
              <a:off x="2641680" y="5087880"/>
              <a:ext cx="215640" cy="201240"/>
            </a:xfrm>
            <a:custGeom>
              <a:avLst/>
              <a:gdLst>
                <a:gd name="textAreaLeft" fmla="*/ 0 w 215640"/>
                <a:gd name="textAreaRight" fmla="*/ 216000 w 215640"/>
                <a:gd name="textAreaTop" fmla="*/ 0 h 201240"/>
                <a:gd name="textAreaBottom" fmla="*/ 201600 h 201240"/>
              </a:gdLst>
              <a:ahLst/>
              <a:cxnLst/>
              <a:rect l="textAreaLeft" t="textAreaTop" r="textAreaRight" b="textAreaBottom"/>
              <a:pathLst>
                <a:path w="273" h="252">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2"/>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8" name="Freeform 18"/>
            <p:cNvSpPr/>
            <p:nvPr/>
          </p:nvSpPr>
          <p:spPr>
            <a:xfrm>
              <a:off x="2641680" y="537516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49" name="Rectangle 19"/>
            <p:cNvSpPr/>
            <p:nvPr/>
          </p:nvSpPr>
          <p:spPr>
            <a:xfrm>
              <a:off x="2427120" y="4508640"/>
              <a:ext cx="60480" cy="30276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sp>
        <p:nvSpPr>
          <p:cNvPr id="50" name="Text Box 25"/>
          <p:cNvSpPr/>
          <p:nvPr/>
        </p:nvSpPr>
        <p:spPr>
          <a:xfrm>
            <a:off x="6196680" y="5194440"/>
            <a:ext cx="2117880" cy="70380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3. Allow writes </a:t>
            </a:r>
            <a:endParaRPr lang="en-US" sz="2000" b="1" strike="noStrike" spc="-1">
              <a:solidFill>
                <a:srgbClr val="FFFFFF"/>
              </a:solidFill>
              <a:latin typeface="Verdana"/>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to database</a:t>
            </a:r>
            <a:endParaRPr lang="en-US" sz="2000" b="1" strike="noStrike" spc="-1">
              <a:solidFill>
                <a:srgbClr val="FFFFFF"/>
              </a:solidFill>
              <a:latin typeface="Verdana"/>
            </a:endParaRPr>
          </a:p>
        </p:txBody>
      </p:sp>
      <p:sp>
        <p:nvSpPr>
          <p:cNvPr id="51" name="Oval 40"/>
          <p:cNvSpPr/>
          <p:nvPr/>
        </p:nvSpPr>
        <p:spPr>
          <a:xfrm>
            <a:off x="2346480" y="5375160"/>
            <a:ext cx="228600" cy="228600"/>
          </a:xfrm>
          <a:prstGeom prst="ellipse">
            <a:avLst/>
          </a:prstGeom>
          <a:solidFill>
            <a:srgbClr val="00FF00"/>
          </a:solidFill>
          <a:ln w="12600" cap="sq">
            <a:solidFill>
              <a:srgbClr val="FFFFFF"/>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nvGrpSpPr>
          <p:cNvPr id="52" name="Group 21"/>
          <p:cNvGrpSpPr/>
          <p:nvPr/>
        </p:nvGrpSpPr>
        <p:grpSpPr>
          <a:xfrm>
            <a:off x="4267080" y="4432320"/>
            <a:ext cx="4419720" cy="761760"/>
            <a:chOff x="4267080" y="4432320"/>
            <a:chExt cx="4419720" cy="761760"/>
          </a:xfrm>
        </p:grpSpPr>
        <p:sp>
          <p:nvSpPr>
            <p:cNvPr id="53" name="AutoShape 22"/>
            <p:cNvSpPr/>
            <p:nvPr/>
          </p:nvSpPr>
          <p:spPr>
            <a:xfrm>
              <a:off x="4267080" y="4432320"/>
              <a:ext cx="1905120" cy="761760"/>
            </a:xfrm>
            <a:prstGeom prst="rightArrow">
              <a:avLst>
                <a:gd name="adj1" fmla="val 50000"/>
                <a:gd name="adj2" fmla="val 62524"/>
              </a:avLst>
            </a:prstGeom>
            <a:solidFill>
              <a:srgbClr val="FF0000"/>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Backup</a:t>
              </a:r>
              <a:endParaRPr lang="en-US" sz="2400" b="1" strike="noStrike" spc="-1">
                <a:solidFill>
                  <a:srgbClr val="FFFFFF"/>
                </a:solidFill>
                <a:latin typeface="Verdana"/>
              </a:endParaRPr>
            </a:p>
          </p:txBody>
        </p:sp>
        <p:sp>
          <p:nvSpPr>
            <p:cNvPr id="54" name="Text Box 23"/>
            <p:cNvSpPr/>
            <p:nvPr/>
          </p:nvSpPr>
          <p:spPr>
            <a:xfrm>
              <a:off x="6172200" y="4432320"/>
              <a:ext cx="2514600" cy="703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2. Do external backup</a:t>
              </a:r>
              <a:endParaRPr lang="en-US" sz="2000" b="1" strike="noStrike" spc="-1">
                <a:solidFill>
                  <a:srgbClr val="FFFFFF"/>
                </a:solidFill>
                <a:latin typeface="Verdana"/>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9" presetClass="entr"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additive="repl">
                                        <p:cTn id="7" dur="500"/>
                                        <p:tgtEl>
                                          <p:spTgt spid="36"/>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9" presetClass="entr"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dissolve">
                                      <p:cBhvr additive="repl">
                                        <p:cTn id="12" dur="500"/>
                                        <p:tgtEl>
                                          <p:spTgt spid="52"/>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9" presetClass="entr"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dissolve">
                                      <p:cBhvr additive="repl">
                                        <p:cTn id="17" dur="500"/>
                                        <p:tgtEl>
                                          <p:spTgt spid="50"/>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9" presetClass="entr" fill="hold" nodeType="clickEffect">
                                  <p:stCondLst>
                                    <p:cond delay="0"/>
                                  </p:stCondLst>
                                  <p:childTnLst>
                                    <p:set>
                                      <p:cBhvr>
                                        <p:cTn id="21" dur="1" fill="hold">
                                          <p:stCondLst>
                                            <p:cond delay="0"/>
                                          </p:stCondLst>
                                        </p:cTn>
                                        <p:tgtEl>
                                          <p:spTgt spid="34">
                                            <p:txEl>
                                              <p:pRg st="0" end="0"/>
                                            </p:txEl>
                                          </p:spTgt>
                                        </p:tgtEl>
                                        <p:attrNameLst>
                                          <p:attrName>style.visibility</p:attrName>
                                        </p:attrNameLst>
                                      </p:cBhvr>
                                      <p:to>
                                        <p:strVal val="visible"/>
                                      </p:to>
                                    </p:set>
                                    <p:animEffect transition="in" filter="dissolve">
                                      <p:cBhvr additive="repl">
                                        <p:cTn id="22" dur="500"/>
                                        <p:tgtEl>
                                          <p:spTgt spid="34">
                                            <p:txEl>
                                              <p:pRg st="0" end="0"/>
                                            </p:txEl>
                                          </p:spTgt>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9" presetClass="entr" fill="hold" nodeType="clickEffect">
                                  <p:stCondLst>
                                    <p:cond delay="0"/>
                                  </p:stCondLst>
                                  <p:childTnLst>
                                    <p:set>
                                      <p:cBhvr>
                                        <p:cTn id="26" dur="1" fill="hold">
                                          <p:stCondLst>
                                            <p:cond delay="0"/>
                                          </p:stCondLst>
                                        </p:cTn>
                                        <p:tgtEl>
                                          <p:spTgt spid="34">
                                            <p:txEl>
                                              <p:pRg st="1" end="1"/>
                                            </p:txEl>
                                          </p:spTgt>
                                        </p:tgtEl>
                                        <p:attrNameLst>
                                          <p:attrName>style.visibility</p:attrName>
                                        </p:attrNameLst>
                                      </p:cBhvr>
                                      <p:to>
                                        <p:strVal val="visible"/>
                                      </p:to>
                                    </p:set>
                                    <p:animEffect transition="in" filter="dissolve">
                                      <p:cBhvr additive="repl">
                                        <p:cTn id="27" dur="500"/>
                                        <p:tgtEl>
                                          <p:spTgt spid="34">
                                            <p:txEl>
                                              <p:pRg st="1" end="1"/>
                                            </p:txEl>
                                          </p:spTgt>
                                        </p:tgtEl>
                                      </p:cBhvr>
                                    </p:animEffect>
                                  </p:childTnLst>
                                </p:cTn>
                              </p:par>
                              <p:par>
                                <p:cTn id="28" presetID="9" presetClass="entr" fill="hold" nodeType="withEffect">
                                  <p:stCondLst>
                                    <p:cond delay="0"/>
                                  </p:stCondLst>
                                  <p:childTnLst>
                                    <p:set>
                                      <p:cBhvr>
                                        <p:cTn id="29" dur="1" fill="hold">
                                          <p:stCondLst>
                                            <p:cond delay="0"/>
                                          </p:stCondLst>
                                        </p:cTn>
                                        <p:tgtEl>
                                          <p:spTgt spid="34">
                                            <p:txEl>
                                              <p:pRg st="2" end="2"/>
                                            </p:txEl>
                                          </p:spTgt>
                                        </p:tgtEl>
                                        <p:attrNameLst>
                                          <p:attrName>style.visibility</p:attrName>
                                        </p:attrNameLst>
                                      </p:cBhvr>
                                      <p:to>
                                        <p:strVal val="visible"/>
                                      </p:to>
                                    </p:set>
                                    <p:animEffect transition="in" filter="dissolve">
                                      <p:cBhvr additive="repl">
                                        <p:cTn id="30" dur="500"/>
                                        <p:tgtEl>
                                          <p:spTgt spid="34">
                                            <p:txEl>
                                              <p:pRg st="2" end="2"/>
                                            </p:txEl>
                                          </p:spTgt>
                                        </p:tgtEl>
                                      </p:cBhvr>
                                    </p:animEffect>
                                  </p:childTnLst>
                                </p:cTn>
                              </p:par>
                            </p:childTnLst>
                          </p:cTn>
                        </p:par>
                      </p:childTnLst>
                    </p:cTn>
                  </p:par>
                  <p:par>
                    <p:cTn id="31" fill="hold" nodeType="clickEffect">
                      <p:stCondLst>
                        <p:cond delay="indefinite"/>
                      </p:stCondLst>
                      <p:childTnLst>
                        <p:par>
                          <p:cTn id="32" fill="hold" nodeType="withEffect">
                            <p:stCondLst>
                              <p:cond delay="0"/>
                            </p:stCondLst>
                            <p:childTnLst>
                              <p:par>
                                <p:cTn id="33" presetID="9" presetClass="entr" fill="hold" nodeType="clickEffect">
                                  <p:stCondLst>
                                    <p:cond delay="0"/>
                                  </p:stCondLst>
                                  <p:childTnLst>
                                    <p:set>
                                      <p:cBhvr>
                                        <p:cTn id="34" dur="1" fill="hold">
                                          <p:stCondLst>
                                            <p:cond delay="0"/>
                                          </p:stCondLst>
                                        </p:cTn>
                                        <p:tgtEl>
                                          <p:spTgt spid="34">
                                            <p:txEl>
                                              <p:pRg st="3" end="3"/>
                                            </p:txEl>
                                          </p:spTgt>
                                        </p:tgtEl>
                                        <p:attrNameLst>
                                          <p:attrName>style.visibility</p:attrName>
                                        </p:attrNameLst>
                                      </p:cBhvr>
                                      <p:to>
                                        <p:strVal val="visible"/>
                                      </p:to>
                                    </p:set>
                                    <p:animEffect transition="in" filter="dissolve">
                                      <p:cBhvr additive="repl">
                                        <p:cTn id="35" dur="500"/>
                                        <p:tgtEl>
                                          <p:spTgt spid="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Use methods of Backup.General class: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ExternalFreeze().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ExternalThaw().</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Refer to </a:t>
            </a:r>
            <a:r>
              <a:rPr lang="en-US" sz="2400" b="0" i="1" strike="noStrike" spc="-1">
                <a:solidFill>
                  <a:srgbClr val="FFFF66"/>
                </a:solidFill>
                <a:latin typeface="Verdana"/>
              </a:rPr>
              <a:t>Class Reference</a:t>
            </a:r>
            <a:r>
              <a:rPr lang="en-US" sz="2400" b="0" strike="noStrike" spc="-1">
                <a:solidFill>
                  <a:srgbClr val="FFFF66"/>
                </a:solidFill>
                <a:latin typeface="Verdana"/>
              </a:rPr>
              <a:t> for OS examples.</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Methods: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Freeze and thaw Write Daemon.</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Switch journal file.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Write backup marker to journal file.</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Refer to </a:t>
            </a:r>
            <a:r>
              <a:rPr lang="en-US" sz="2800" b="0" i="1" strike="noStrike" spc="-1">
                <a:solidFill>
                  <a:srgbClr val="FFFF66"/>
                </a:solidFill>
                <a:latin typeface="Verdana"/>
              </a:rPr>
              <a:t>Data Integrity Guide &gt; Backup and Restore </a:t>
            </a:r>
            <a:r>
              <a:rPr lang="en-US" sz="2800" b="0" strike="noStrike" spc="-1">
                <a:solidFill>
                  <a:srgbClr val="FFFF66"/>
                </a:solidFill>
                <a:latin typeface="Verdana"/>
              </a:rPr>
              <a:t>for details.</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FFFF66"/>
              </a:solidFill>
              <a:latin typeface="Verdana"/>
            </a:endParaRPr>
          </a:p>
        </p:txBody>
      </p:sp>
      <p:sp>
        <p:nvSpPr>
          <p:cNvPr id="56"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External Backup (cont.)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p:cNvSpPr txBox="1"/>
          <p:nvPr/>
        </p:nvSpPr>
        <p:spPr>
          <a:xfrm>
            <a:off x="355680" y="1295280"/>
            <a:ext cx="8331120" cy="4724640"/>
          </a:xfrm>
          <a:prstGeom prst="rect">
            <a:avLst/>
          </a:prstGeom>
          <a:noFill/>
          <a:ln w="0">
            <a:noFill/>
          </a:ln>
        </p:spPr>
        <p:txBody>
          <a:bodyPr anchor="t">
            <a:normAutofit/>
          </a:bodyPr>
          <a:lstStyle/>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Only use if application tolerates downtime.</a:t>
            </a:r>
          </a:p>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Sometimes used when performing complete system backup as part of repairing faulty hardware.</a:t>
            </a:r>
          </a:p>
        </p:txBody>
      </p:sp>
      <p:sp>
        <p:nvSpPr>
          <p:cNvPr id="58"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Cold Backup</a:t>
            </a:r>
          </a:p>
        </p:txBody>
      </p:sp>
      <p:sp>
        <p:nvSpPr>
          <p:cNvPr id="59" name="AutoShape 5"/>
          <p:cNvSpPr/>
          <p:nvPr/>
        </p:nvSpPr>
        <p:spPr>
          <a:xfrm>
            <a:off x="685800" y="3495600"/>
            <a:ext cx="3505320" cy="2752920"/>
          </a:xfrm>
          <a:prstGeom prst="flowChartMagneticDisk">
            <a:avLst/>
          </a:prstGeom>
          <a:solidFill>
            <a:srgbClr val="B2B2B2"/>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nvGrpSpPr>
          <p:cNvPr id="60" name="Group 51"/>
          <p:cNvGrpSpPr/>
          <p:nvPr/>
        </p:nvGrpSpPr>
        <p:grpSpPr>
          <a:xfrm>
            <a:off x="2079720" y="3689280"/>
            <a:ext cx="5792040" cy="1936800"/>
            <a:chOff x="2079720" y="3689280"/>
            <a:chExt cx="5792040" cy="1936800"/>
          </a:xfrm>
        </p:grpSpPr>
        <p:sp>
          <p:nvSpPr>
            <p:cNvPr id="61" name="Text Box 8"/>
            <p:cNvSpPr/>
            <p:nvPr/>
          </p:nvSpPr>
          <p:spPr>
            <a:xfrm>
              <a:off x="6220440" y="3689280"/>
              <a:ext cx="1651320" cy="39888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1. Stop IRIS</a:t>
              </a:r>
              <a:endParaRPr lang="en-US" sz="2000" b="1" strike="noStrike" spc="-1">
                <a:solidFill>
                  <a:srgbClr val="FFFFFF"/>
                </a:solidFill>
                <a:latin typeface="Verdana"/>
              </a:endParaRPr>
            </a:p>
          </p:txBody>
        </p:sp>
        <p:grpSp>
          <p:nvGrpSpPr>
            <p:cNvPr id="62" name="Group 49"/>
            <p:cNvGrpSpPr/>
            <p:nvPr/>
          </p:nvGrpSpPr>
          <p:grpSpPr>
            <a:xfrm>
              <a:off x="2079720" y="4403520"/>
              <a:ext cx="799920" cy="1222560"/>
              <a:chOff x="2079720" y="4403520"/>
              <a:chExt cx="799920" cy="1222560"/>
            </a:xfrm>
          </p:grpSpPr>
          <p:grpSp>
            <p:nvGrpSpPr>
              <p:cNvPr id="63" name="Group 29"/>
              <p:cNvGrpSpPr/>
              <p:nvPr/>
            </p:nvGrpSpPr>
            <p:grpSpPr>
              <a:xfrm>
                <a:off x="2079720" y="4403520"/>
                <a:ext cx="799920" cy="1222560"/>
                <a:chOff x="2079720" y="4403520"/>
                <a:chExt cx="799920" cy="1222560"/>
              </a:xfrm>
            </p:grpSpPr>
            <p:sp>
              <p:nvSpPr>
                <p:cNvPr id="64" name="Rectangle 17"/>
                <p:cNvSpPr/>
                <p:nvPr/>
              </p:nvSpPr>
              <p:spPr>
                <a:xfrm>
                  <a:off x="2236680" y="4626000"/>
                  <a:ext cx="484200" cy="100008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65" name="Freeform 18"/>
                <p:cNvSpPr/>
                <p:nvPr/>
              </p:nvSpPr>
              <p:spPr>
                <a:xfrm>
                  <a:off x="2379600" y="4725720"/>
                  <a:ext cx="219240" cy="220680"/>
                </a:xfrm>
                <a:custGeom>
                  <a:avLst/>
                  <a:gdLst>
                    <a:gd name="textAreaLeft" fmla="*/ 0 w 219240"/>
                    <a:gd name="textAreaRight" fmla="*/ 219600 w 219240"/>
                    <a:gd name="textAreaTop" fmla="*/ 0 h 220680"/>
                    <a:gd name="textAreaBottom" fmla="*/ 221040 h 220680"/>
                  </a:gdLst>
                  <a:ahLst/>
                  <a:cxnLst/>
                  <a:rect l="textAreaLeft" t="textAreaTop" r="textAreaRight" b="textAreaBottom"/>
                  <a:pathLst>
                    <a:path w="277" h="278">
                      <a:moveTo>
                        <a:pt x="139" y="278"/>
                      </a:moveTo>
                      <a:lnTo>
                        <a:pt x="166" y="274"/>
                      </a:lnTo>
                      <a:lnTo>
                        <a:pt x="192" y="267"/>
                      </a:lnTo>
                      <a:lnTo>
                        <a:pt x="216" y="254"/>
                      </a:lnTo>
                      <a:lnTo>
                        <a:pt x="236" y="237"/>
                      </a:lnTo>
                      <a:lnTo>
                        <a:pt x="253" y="217"/>
                      </a:lnTo>
                      <a:lnTo>
                        <a:pt x="266" y="193"/>
                      </a:lnTo>
                      <a:lnTo>
                        <a:pt x="273" y="167"/>
                      </a:lnTo>
                      <a:lnTo>
                        <a:pt x="277" y="140"/>
                      </a:lnTo>
                      <a:lnTo>
                        <a:pt x="273" y="112"/>
                      </a:lnTo>
                      <a:lnTo>
                        <a:pt x="266" y="84"/>
                      </a:lnTo>
                      <a:lnTo>
                        <a:pt x="253" y="61"/>
                      </a:lnTo>
                      <a:lnTo>
                        <a:pt x="236" y="40"/>
                      </a:lnTo>
                      <a:lnTo>
                        <a:pt x="216" y="24"/>
                      </a:lnTo>
                      <a:lnTo>
                        <a:pt x="192" y="11"/>
                      </a:lnTo>
                      <a:lnTo>
                        <a:pt x="166" y="3"/>
                      </a:lnTo>
                      <a:lnTo>
                        <a:pt x="139" y="0"/>
                      </a:lnTo>
                      <a:lnTo>
                        <a:pt x="111" y="3"/>
                      </a:lnTo>
                      <a:lnTo>
                        <a:pt x="85" y="11"/>
                      </a:lnTo>
                      <a:lnTo>
                        <a:pt x="61" y="24"/>
                      </a:lnTo>
                      <a:lnTo>
                        <a:pt x="41" y="40"/>
                      </a:lnTo>
                      <a:lnTo>
                        <a:pt x="24" y="61"/>
                      </a:lnTo>
                      <a:lnTo>
                        <a:pt x="11" y="84"/>
                      </a:lnTo>
                      <a:lnTo>
                        <a:pt x="4" y="112"/>
                      </a:lnTo>
                      <a:lnTo>
                        <a:pt x="0" y="140"/>
                      </a:lnTo>
                      <a:lnTo>
                        <a:pt x="4" y="167"/>
                      </a:lnTo>
                      <a:lnTo>
                        <a:pt x="11" y="193"/>
                      </a:lnTo>
                      <a:lnTo>
                        <a:pt x="24" y="217"/>
                      </a:lnTo>
                      <a:lnTo>
                        <a:pt x="41" y="237"/>
                      </a:lnTo>
                      <a:lnTo>
                        <a:pt x="61" y="254"/>
                      </a:lnTo>
                      <a:lnTo>
                        <a:pt x="85" y="267"/>
                      </a:lnTo>
                      <a:lnTo>
                        <a:pt x="111" y="274"/>
                      </a:lnTo>
                      <a:lnTo>
                        <a:pt x="139" y="27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66" name="Freeform 19"/>
                <p:cNvSpPr/>
                <p:nvPr/>
              </p:nvSpPr>
              <p:spPr>
                <a:xfrm>
                  <a:off x="2379600" y="5005440"/>
                  <a:ext cx="219240" cy="218880"/>
                </a:xfrm>
                <a:custGeom>
                  <a:avLst/>
                  <a:gdLst>
                    <a:gd name="textAreaLeft" fmla="*/ 0 w 219240"/>
                    <a:gd name="textAreaRight" fmla="*/ 219600 w 219240"/>
                    <a:gd name="textAreaTop" fmla="*/ 0 h 218880"/>
                    <a:gd name="textAreaBottom" fmla="*/ 219240 h 218880"/>
                  </a:gdLst>
                  <a:ahLst/>
                  <a:cxnLst/>
                  <a:rect l="textAreaLeft" t="textAreaTop" r="textAreaRight" b="textAreaBottom"/>
                  <a:pathLst>
                    <a:path w="277" h="276">
                      <a:moveTo>
                        <a:pt x="139" y="276"/>
                      </a:moveTo>
                      <a:lnTo>
                        <a:pt x="166" y="272"/>
                      </a:lnTo>
                      <a:lnTo>
                        <a:pt x="192" y="265"/>
                      </a:lnTo>
                      <a:lnTo>
                        <a:pt x="216" y="252"/>
                      </a:lnTo>
                      <a:lnTo>
                        <a:pt x="236" y="235"/>
                      </a:lnTo>
                      <a:lnTo>
                        <a:pt x="253" y="215"/>
                      </a:lnTo>
                      <a:lnTo>
                        <a:pt x="266" y="191"/>
                      </a:lnTo>
                      <a:lnTo>
                        <a:pt x="273" y="165"/>
                      </a:lnTo>
                      <a:lnTo>
                        <a:pt x="277" y="138"/>
                      </a:lnTo>
                      <a:lnTo>
                        <a:pt x="273" y="110"/>
                      </a:lnTo>
                      <a:lnTo>
                        <a:pt x="266" y="84"/>
                      </a:lnTo>
                      <a:lnTo>
                        <a:pt x="253" y="60"/>
                      </a:lnTo>
                      <a:lnTo>
                        <a:pt x="236" y="40"/>
                      </a:lnTo>
                      <a:lnTo>
                        <a:pt x="216" y="24"/>
                      </a:lnTo>
                      <a:lnTo>
                        <a:pt x="192" y="11"/>
                      </a:lnTo>
                      <a:lnTo>
                        <a:pt x="166" y="1"/>
                      </a:lnTo>
                      <a:lnTo>
                        <a:pt x="139" y="0"/>
                      </a:lnTo>
                      <a:lnTo>
                        <a:pt x="111" y="1"/>
                      </a:lnTo>
                      <a:lnTo>
                        <a:pt x="85" y="11"/>
                      </a:lnTo>
                      <a:lnTo>
                        <a:pt x="61" y="24"/>
                      </a:lnTo>
                      <a:lnTo>
                        <a:pt x="41" y="40"/>
                      </a:lnTo>
                      <a:lnTo>
                        <a:pt x="24" y="60"/>
                      </a:lnTo>
                      <a:lnTo>
                        <a:pt x="11" y="84"/>
                      </a:lnTo>
                      <a:lnTo>
                        <a:pt x="4" y="110"/>
                      </a:lnTo>
                      <a:lnTo>
                        <a:pt x="0" y="138"/>
                      </a:lnTo>
                      <a:lnTo>
                        <a:pt x="4" y="165"/>
                      </a:lnTo>
                      <a:lnTo>
                        <a:pt x="11" y="191"/>
                      </a:lnTo>
                      <a:lnTo>
                        <a:pt x="24" y="215"/>
                      </a:lnTo>
                      <a:lnTo>
                        <a:pt x="41" y="235"/>
                      </a:lnTo>
                      <a:lnTo>
                        <a:pt x="61" y="252"/>
                      </a:lnTo>
                      <a:lnTo>
                        <a:pt x="85" y="265"/>
                      </a:lnTo>
                      <a:lnTo>
                        <a:pt x="111" y="272"/>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67" name="Freeform 20"/>
                <p:cNvSpPr/>
                <p:nvPr/>
              </p:nvSpPr>
              <p:spPr>
                <a:xfrm>
                  <a:off x="2379600" y="5289480"/>
                  <a:ext cx="219240" cy="218880"/>
                </a:xfrm>
                <a:custGeom>
                  <a:avLst/>
                  <a:gdLst>
                    <a:gd name="textAreaLeft" fmla="*/ 0 w 219240"/>
                    <a:gd name="textAreaRight" fmla="*/ 219600 w 219240"/>
                    <a:gd name="textAreaTop" fmla="*/ 0 h 218880"/>
                    <a:gd name="textAreaBottom" fmla="*/ 219240 h 218880"/>
                  </a:gdLst>
                  <a:ahLst/>
                  <a:cxnLst/>
                  <a:rect l="textAreaLeft" t="textAreaTop" r="textAreaRight" b="textAreaBottom"/>
                  <a:pathLst>
                    <a:path w="277" h="276">
                      <a:moveTo>
                        <a:pt x="139" y="276"/>
                      </a:moveTo>
                      <a:lnTo>
                        <a:pt x="166" y="273"/>
                      </a:lnTo>
                      <a:lnTo>
                        <a:pt x="192" y="265"/>
                      </a:lnTo>
                      <a:lnTo>
                        <a:pt x="216" y="252"/>
                      </a:lnTo>
                      <a:lnTo>
                        <a:pt x="236" y="236"/>
                      </a:lnTo>
                      <a:lnTo>
                        <a:pt x="253" y="216"/>
                      </a:lnTo>
                      <a:lnTo>
                        <a:pt x="266" y="192"/>
                      </a:lnTo>
                      <a:lnTo>
                        <a:pt x="273" y="166"/>
                      </a:lnTo>
                      <a:lnTo>
                        <a:pt x="277" y="138"/>
                      </a:lnTo>
                      <a:lnTo>
                        <a:pt x="273" y="111"/>
                      </a:lnTo>
                      <a:lnTo>
                        <a:pt x="266" y="85"/>
                      </a:lnTo>
                      <a:lnTo>
                        <a:pt x="253" y="61"/>
                      </a:lnTo>
                      <a:lnTo>
                        <a:pt x="236" y="41"/>
                      </a:lnTo>
                      <a:lnTo>
                        <a:pt x="216" y="24"/>
                      </a:lnTo>
                      <a:lnTo>
                        <a:pt x="192" y="11"/>
                      </a:lnTo>
                      <a:lnTo>
                        <a:pt x="166" y="2"/>
                      </a:lnTo>
                      <a:lnTo>
                        <a:pt x="139" y="0"/>
                      </a:lnTo>
                      <a:lnTo>
                        <a:pt x="111" y="2"/>
                      </a:lnTo>
                      <a:lnTo>
                        <a:pt x="85" y="11"/>
                      </a:lnTo>
                      <a:lnTo>
                        <a:pt x="61" y="24"/>
                      </a:lnTo>
                      <a:lnTo>
                        <a:pt x="41" y="41"/>
                      </a:lnTo>
                      <a:lnTo>
                        <a:pt x="24" y="61"/>
                      </a:lnTo>
                      <a:lnTo>
                        <a:pt x="11" y="85"/>
                      </a:lnTo>
                      <a:lnTo>
                        <a:pt x="4" y="111"/>
                      </a:lnTo>
                      <a:lnTo>
                        <a:pt x="0" y="138"/>
                      </a:lnTo>
                      <a:lnTo>
                        <a:pt x="4" y="166"/>
                      </a:lnTo>
                      <a:lnTo>
                        <a:pt x="11" y="192"/>
                      </a:lnTo>
                      <a:lnTo>
                        <a:pt x="24" y="216"/>
                      </a:lnTo>
                      <a:lnTo>
                        <a:pt x="41" y="236"/>
                      </a:lnTo>
                      <a:lnTo>
                        <a:pt x="61" y="252"/>
                      </a:lnTo>
                      <a:lnTo>
                        <a:pt x="85" y="265"/>
                      </a:lnTo>
                      <a:lnTo>
                        <a:pt x="111" y="273"/>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68" name="Rectangle 21"/>
                <p:cNvSpPr/>
                <p:nvPr/>
              </p:nvSpPr>
              <p:spPr>
                <a:xfrm>
                  <a:off x="2200320" y="4581360"/>
                  <a:ext cx="558720" cy="7776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30960" rIns="90000" bIns="3096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69" name="Freeform 22"/>
                <p:cNvSpPr/>
                <p:nvPr/>
              </p:nvSpPr>
              <p:spPr>
                <a:xfrm>
                  <a:off x="2079720" y="471168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0" name="Freeform 23"/>
                <p:cNvSpPr/>
                <p:nvPr/>
              </p:nvSpPr>
              <p:spPr>
                <a:xfrm>
                  <a:off x="2079720" y="4983120"/>
                  <a:ext cx="215640" cy="201600"/>
                </a:xfrm>
                <a:custGeom>
                  <a:avLst/>
                  <a:gdLst>
                    <a:gd name="textAreaLeft" fmla="*/ 0 w 215640"/>
                    <a:gd name="textAreaRight" fmla="*/ 216000 w 215640"/>
                    <a:gd name="textAreaTop" fmla="*/ 0 h 201600"/>
                    <a:gd name="textAreaBottom" fmla="*/ 201960 h 201600"/>
                  </a:gdLst>
                  <a:ahLst/>
                  <a:cxnLst/>
                  <a:rect l="textAreaLeft" t="textAreaTop" r="textAreaRight" b="textAreaBottom"/>
                  <a:pathLst>
                    <a:path w="273" h="252">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2"/>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1" name="Freeform 24"/>
                <p:cNvSpPr/>
                <p:nvPr/>
              </p:nvSpPr>
              <p:spPr>
                <a:xfrm>
                  <a:off x="2079720" y="5270400"/>
                  <a:ext cx="215640" cy="200160"/>
                </a:xfrm>
                <a:custGeom>
                  <a:avLst/>
                  <a:gdLst>
                    <a:gd name="textAreaLeft" fmla="*/ 0 w 215640"/>
                    <a:gd name="textAreaRight" fmla="*/ 216000 w 215640"/>
                    <a:gd name="textAreaTop" fmla="*/ 0 h 200160"/>
                    <a:gd name="textAreaBottom" fmla="*/ 200520 h 20016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2" name="Freeform 25"/>
                <p:cNvSpPr/>
                <p:nvPr/>
              </p:nvSpPr>
              <p:spPr>
                <a:xfrm>
                  <a:off x="2664000" y="471168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3" name="Freeform 26"/>
                <p:cNvSpPr/>
                <p:nvPr/>
              </p:nvSpPr>
              <p:spPr>
                <a:xfrm>
                  <a:off x="2664000" y="4983120"/>
                  <a:ext cx="215640" cy="201600"/>
                </a:xfrm>
                <a:custGeom>
                  <a:avLst/>
                  <a:gdLst>
                    <a:gd name="textAreaLeft" fmla="*/ 0 w 215640"/>
                    <a:gd name="textAreaRight" fmla="*/ 216000 w 215640"/>
                    <a:gd name="textAreaTop" fmla="*/ 0 h 201600"/>
                    <a:gd name="textAreaBottom" fmla="*/ 201960 h 201600"/>
                  </a:gdLst>
                  <a:ahLst/>
                  <a:cxnLst/>
                  <a:rect l="textAreaLeft" t="textAreaTop" r="textAreaRight" b="textAreaBottom"/>
                  <a:pathLst>
                    <a:path w="273" h="252">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2"/>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4" name="Freeform 27"/>
                <p:cNvSpPr/>
                <p:nvPr/>
              </p:nvSpPr>
              <p:spPr>
                <a:xfrm>
                  <a:off x="2664000" y="5270400"/>
                  <a:ext cx="215640" cy="200160"/>
                </a:xfrm>
                <a:custGeom>
                  <a:avLst/>
                  <a:gdLst>
                    <a:gd name="textAreaLeft" fmla="*/ 0 w 215640"/>
                    <a:gd name="textAreaRight" fmla="*/ 216000 w 215640"/>
                    <a:gd name="textAreaTop" fmla="*/ 0 h 200160"/>
                    <a:gd name="textAreaBottom" fmla="*/ 200520 h 20016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75" name="Rectangle 28"/>
                <p:cNvSpPr/>
                <p:nvPr/>
              </p:nvSpPr>
              <p:spPr>
                <a:xfrm>
                  <a:off x="2449440" y="4403520"/>
                  <a:ext cx="60480" cy="30312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sp>
            <p:nvSpPr>
              <p:cNvPr id="76" name="Oval 30"/>
              <p:cNvSpPr/>
              <p:nvPr/>
            </p:nvSpPr>
            <p:spPr>
              <a:xfrm>
                <a:off x="2362320" y="4724280"/>
                <a:ext cx="228600" cy="228600"/>
              </a:xfrm>
              <a:prstGeom prst="ellipse">
                <a:avLst/>
              </a:prstGeom>
              <a:solidFill>
                <a:srgbClr val="FF0000"/>
              </a:solidFill>
              <a:ln w="12600" cap="sq">
                <a:solidFill>
                  <a:srgbClr val="FFFFFF"/>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grpSp>
      <p:grpSp>
        <p:nvGrpSpPr>
          <p:cNvPr id="77" name="Group 59"/>
          <p:cNvGrpSpPr/>
          <p:nvPr/>
        </p:nvGrpSpPr>
        <p:grpSpPr>
          <a:xfrm>
            <a:off x="4267080" y="4343400"/>
            <a:ext cx="4343400" cy="761760"/>
            <a:chOff x="4267080" y="4343400"/>
            <a:chExt cx="4343400" cy="761760"/>
          </a:xfrm>
        </p:grpSpPr>
        <p:sp>
          <p:nvSpPr>
            <p:cNvPr id="78" name="AutoShape 6"/>
            <p:cNvSpPr/>
            <p:nvPr/>
          </p:nvSpPr>
          <p:spPr>
            <a:xfrm>
              <a:off x="4267080" y="4343400"/>
              <a:ext cx="1905120" cy="761760"/>
            </a:xfrm>
            <a:prstGeom prst="rightArrow">
              <a:avLst>
                <a:gd name="adj1" fmla="val 50000"/>
                <a:gd name="adj2" fmla="val 62524"/>
              </a:avLst>
            </a:prstGeom>
            <a:solidFill>
              <a:srgbClr val="FF0000"/>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Backup</a:t>
              </a:r>
              <a:endParaRPr lang="en-US" sz="2400" b="1" strike="noStrike" spc="-1">
                <a:solidFill>
                  <a:srgbClr val="FFFFFF"/>
                </a:solidFill>
                <a:latin typeface="Verdana"/>
              </a:endParaRPr>
            </a:p>
          </p:txBody>
        </p:sp>
        <p:sp>
          <p:nvSpPr>
            <p:cNvPr id="79" name="Text Box 31"/>
            <p:cNvSpPr/>
            <p:nvPr/>
          </p:nvSpPr>
          <p:spPr>
            <a:xfrm>
              <a:off x="6172200" y="4343400"/>
              <a:ext cx="2438280" cy="70380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2. Do external backup</a:t>
              </a:r>
              <a:endParaRPr lang="en-US" sz="2000" b="1" strike="noStrike" spc="-1">
                <a:solidFill>
                  <a:srgbClr val="FFFFFF"/>
                </a:solidFill>
                <a:latin typeface="Verdana"/>
              </a:endParaRPr>
            </a:p>
          </p:txBody>
        </p:sp>
      </p:grpSp>
      <p:grpSp>
        <p:nvGrpSpPr>
          <p:cNvPr id="80" name="Group 57"/>
          <p:cNvGrpSpPr/>
          <p:nvPr/>
        </p:nvGrpSpPr>
        <p:grpSpPr>
          <a:xfrm>
            <a:off x="2082960" y="4419720"/>
            <a:ext cx="5850720" cy="1311840"/>
            <a:chOff x="2082960" y="4419720"/>
            <a:chExt cx="5850720" cy="1311840"/>
          </a:xfrm>
        </p:grpSpPr>
        <p:sp>
          <p:nvSpPr>
            <p:cNvPr id="81" name="Text Box 32"/>
            <p:cNvSpPr/>
            <p:nvPr/>
          </p:nvSpPr>
          <p:spPr>
            <a:xfrm>
              <a:off x="6238080" y="5332680"/>
              <a:ext cx="1695600" cy="39888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t">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3. Start IRIS</a:t>
              </a:r>
              <a:endParaRPr lang="en-US" sz="2000" b="1" strike="noStrike" spc="-1">
                <a:solidFill>
                  <a:srgbClr val="FFFFFF"/>
                </a:solidFill>
                <a:latin typeface="Verdana"/>
              </a:endParaRPr>
            </a:p>
          </p:txBody>
        </p:sp>
        <p:grpSp>
          <p:nvGrpSpPr>
            <p:cNvPr id="82" name="Group 50"/>
            <p:cNvGrpSpPr/>
            <p:nvPr/>
          </p:nvGrpSpPr>
          <p:grpSpPr>
            <a:xfrm>
              <a:off x="2082960" y="4419720"/>
              <a:ext cx="799920" cy="1222560"/>
              <a:chOff x="2082960" y="4419720"/>
              <a:chExt cx="799920" cy="1222560"/>
            </a:xfrm>
          </p:grpSpPr>
          <p:grpSp>
            <p:nvGrpSpPr>
              <p:cNvPr id="83" name="Group 34"/>
              <p:cNvGrpSpPr/>
              <p:nvPr/>
            </p:nvGrpSpPr>
            <p:grpSpPr>
              <a:xfrm>
                <a:off x="2082960" y="4419720"/>
                <a:ext cx="799920" cy="1222560"/>
                <a:chOff x="2082960" y="4419720"/>
                <a:chExt cx="799920" cy="1222560"/>
              </a:xfrm>
            </p:grpSpPr>
            <p:sp>
              <p:nvSpPr>
                <p:cNvPr id="84" name="Rectangle 35"/>
                <p:cNvSpPr/>
                <p:nvPr/>
              </p:nvSpPr>
              <p:spPr>
                <a:xfrm>
                  <a:off x="2239920" y="4642200"/>
                  <a:ext cx="484200" cy="100008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85" name="Freeform 36"/>
                <p:cNvSpPr/>
                <p:nvPr/>
              </p:nvSpPr>
              <p:spPr>
                <a:xfrm>
                  <a:off x="2382840" y="4741920"/>
                  <a:ext cx="219240" cy="220680"/>
                </a:xfrm>
                <a:custGeom>
                  <a:avLst/>
                  <a:gdLst>
                    <a:gd name="textAreaLeft" fmla="*/ 0 w 219240"/>
                    <a:gd name="textAreaRight" fmla="*/ 219600 w 219240"/>
                    <a:gd name="textAreaTop" fmla="*/ 0 h 220680"/>
                    <a:gd name="textAreaBottom" fmla="*/ 221040 h 220680"/>
                  </a:gdLst>
                  <a:ahLst/>
                  <a:cxnLst/>
                  <a:rect l="textAreaLeft" t="textAreaTop" r="textAreaRight" b="textAreaBottom"/>
                  <a:pathLst>
                    <a:path w="277" h="278">
                      <a:moveTo>
                        <a:pt x="139" y="278"/>
                      </a:moveTo>
                      <a:lnTo>
                        <a:pt x="166" y="274"/>
                      </a:lnTo>
                      <a:lnTo>
                        <a:pt x="192" y="267"/>
                      </a:lnTo>
                      <a:lnTo>
                        <a:pt x="216" y="254"/>
                      </a:lnTo>
                      <a:lnTo>
                        <a:pt x="236" y="237"/>
                      </a:lnTo>
                      <a:lnTo>
                        <a:pt x="253" y="217"/>
                      </a:lnTo>
                      <a:lnTo>
                        <a:pt x="266" y="193"/>
                      </a:lnTo>
                      <a:lnTo>
                        <a:pt x="273" y="167"/>
                      </a:lnTo>
                      <a:lnTo>
                        <a:pt x="277" y="140"/>
                      </a:lnTo>
                      <a:lnTo>
                        <a:pt x="273" y="112"/>
                      </a:lnTo>
                      <a:lnTo>
                        <a:pt x="266" y="84"/>
                      </a:lnTo>
                      <a:lnTo>
                        <a:pt x="253" y="61"/>
                      </a:lnTo>
                      <a:lnTo>
                        <a:pt x="236" y="40"/>
                      </a:lnTo>
                      <a:lnTo>
                        <a:pt x="216" y="24"/>
                      </a:lnTo>
                      <a:lnTo>
                        <a:pt x="192" y="11"/>
                      </a:lnTo>
                      <a:lnTo>
                        <a:pt x="166" y="3"/>
                      </a:lnTo>
                      <a:lnTo>
                        <a:pt x="139" y="0"/>
                      </a:lnTo>
                      <a:lnTo>
                        <a:pt x="111" y="3"/>
                      </a:lnTo>
                      <a:lnTo>
                        <a:pt x="85" y="11"/>
                      </a:lnTo>
                      <a:lnTo>
                        <a:pt x="61" y="24"/>
                      </a:lnTo>
                      <a:lnTo>
                        <a:pt x="41" y="40"/>
                      </a:lnTo>
                      <a:lnTo>
                        <a:pt x="24" y="61"/>
                      </a:lnTo>
                      <a:lnTo>
                        <a:pt x="11" y="84"/>
                      </a:lnTo>
                      <a:lnTo>
                        <a:pt x="4" y="112"/>
                      </a:lnTo>
                      <a:lnTo>
                        <a:pt x="0" y="140"/>
                      </a:lnTo>
                      <a:lnTo>
                        <a:pt x="4" y="167"/>
                      </a:lnTo>
                      <a:lnTo>
                        <a:pt x="11" y="193"/>
                      </a:lnTo>
                      <a:lnTo>
                        <a:pt x="24" y="217"/>
                      </a:lnTo>
                      <a:lnTo>
                        <a:pt x="41" y="237"/>
                      </a:lnTo>
                      <a:lnTo>
                        <a:pt x="61" y="254"/>
                      </a:lnTo>
                      <a:lnTo>
                        <a:pt x="85" y="267"/>
                      </a:lnTo>
                      <a:lnTo>
                        <a:pt x="111" y="274"/>
                      </a:lnTo>
                      <a:lnTo>
                        <a:pt x="139" y="27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86" name="Freeform 37"/>
                <p:cNvSpPr/>
                <p:nvPr/>
              </p:nvSpPr>
              <p:spPr>
                <a:xfrm>
                  <a:off x="2382840" y="5021640"/>
                  <a:ext cx="219240" cy="218880"/>
                </a:xfrm>
                <a:custGeom>
                  <a:avLst/>
                  <a:gdLst>
                    <a:gd name="textAreaLeft" fmla="*/ 0 w 219240"/>
                    <a:gd name="textAreaRight" fmla="*/ 219600 w 219240"/>
                    <a:gd name="textAreaTop" fmla="*/ 0 h 218880"/>
                    <a:gd name="textAreaBottom" fmla="*/ 219240 h 218880"/>
                  </a:gdLst>
                  <a:ahLst/>
                  <a:cxnLst/>
                  <a:rect l="textAreaLeft" t="textAreaTop" r="textAreaRight" b="textAreaBottom"/>
                  <a:pathLst>
                    <a:path w="277" h="276">
                      <a:moveTo>
                        <a:pt x="139" y="276"/>
                      </a:moveTo>
                      <a:lnTo>
                        <a:pt x="166" y="272"/>
                      </a:lnTo>
                      <a:lnTo>
                        <a:pt x="192" y="265"/>
                      </a:lnTo>
                      <a:lnTo>
                        <a:pt x="216" y="252"/>
                      </a:lnTo>
                      <a:lnTo>
                        <a:pt x="236" y="235"/>
                      </a:lnTo>
                      <a:lnTo>
                        <a:pt x="253" y="215"/>
                      </a:lnTo>
                      <a:lnTo>
                        <a:pt x="266" y="191"/>
                      </a:lnTo>
                      <a:lnTo>
                        <a:pt x="273" y="165"/>
                      </a:lnTo>
                      <a:lnTo>
                        <a:pt x="277" y="138"/>
                      </a:lnTo>
                      <a:lnTo>
                        <a:pt x="273" y="110"/>
                      </a:lnTo>
                      <a:lnTo>
                        <a:pt x="266" y="84"/>
                      </a:lnTo>
                      <a:lnTo>
                        <a:pt x="253" y="60"/>
                      </a:lnTo>
                      <a:lnTo>
                        <a:pt x="236" y="40"/>
                      </a:lnTo>
                      <a:lnTo>
                        <a:pt x="216" y="24"/>
                      </a:lnTo>
                      <a:lnTo>
                        <a:pt x="192" y="11"/>
                      </a:lnTo>
                      <a:lnTo>
                        <a:pt x="166" y="1"/>
                      </a:lnTo>
                      <a:lnTo>
                        <a:pt x="139" y="0"/>
                      </a:lnTo>
                      <a:lnTo>
                        <a:pt x="111" y="1"/>
                      </a:lnTo>
                      <a:lnTo>
                        <a:pt x="85" y="11"/>
                      </a:lnTo>
                      <a:lnTo>
                        <a:pt x="61" y="24"/>
                      </a:lnTo>
                      <a:lnTo>
                        <a:pt x="41" y="40"/>
                      </a:lnTo>
                      <a:lnTo>
                        <a:pt x="24" y="60"/>
                      </a:lnTo>
                      <a:lnTo>
                        <a:pt x="11" y="84"/>
                      </a:lnTo>
                      <a:lnTo>
                        <a:pt x="4" y="110"/>
                      </a:lnTo>
                      <a:lnTo>
                        <a:pt x="0" y="138"/>
                      </a:lnTo>
                      <a:lnTo>
                        <a:pt x="4" y="165"/>
                      </a:lnTo>
                      <a:lnTo>
                        <a:pt x="11" y="191"/>
                      </a:lnTo>
                      <a:lnTo>
                        <a:pt x="24" y="215"/>
                      </a:lnTo>
                      <a:lnTo>
                        <a:pt x="41" y="235"/>
                      </a:lnTo>
                      <a:lnTo>
                        <a:pt x="61" y="252"/>
                      </a:lnTo>
                      <a:lnTo>
                        <a:pt x="85" y="265"/>
                      </a:lnTo>
                      <a:lnTo>
                        <a:pt x="111" y="272"/>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87" name="Freeform 38"/>
                <p:cNvSpPr/>
                <p:nvPr/>
              </p:nvSpPr>
              <p:spPr>
                <a:xfrm>
                  <a:off x="2382840" y="5305680"/>
                  <a:ext cx="219240" cy="218880"/>
                </a:xfrm>
                <a:custGeom>
                  <a:avLst/>
                  <a:gdLst>
                    <a:gd name="textAreaLeft" fmla="*/ 0 w 219240"/>
                    <a:gd name="textAreaRight" fmla="*/ 219600 w 219240"/>
                    <a:gd name="textAreaTop" fmla="*/ 0 h 218880"/>
                    <a:gd name="textAreaBottom" fmla="*/ 219240 h 218880"/>
                  </a:gdLst>
                  <a:ahLst/>
                  <a:cxnLst/>
                  <a:rect l="textAreaLeft" t="textAreaTop" r="textAreaRight" b="textAreaBottom"/>
                  <a:pathLst>
                    <a:path w="277" h="276">
                      <a:moveTo>
                        <a:pt x="139" y="276"/>
                      </a:moveTo>
                      <a:lnTo>
                        <a:pt x="166" y="273"/>
                      </a:lnTo>
                      <a:lnTo>
                        <a:pt x="192" y="265"/>
                      </a:lnTo>
                      <a:lnTo>
                        <a:pt x="216" y="252"/>
                      </a:lnTo>
                      <a:lnTo>
                        <a:pt x="236" y="236"/>
                      </a:lnTo>
                      <a:lnTo>
                        <a:pt x="253" y="216"/>
                      </a:lnTo>
                      <a:lnTo>
                        <a:pt x="266" y="192"/>
                      </a:lnTo>
                      <a:lnTo>
                        <a:pt x="273" y="166"/>
                      </a:lnTo>
                      <a:lnTo>
                        <a:pt x="277" y="138"/>
                      </a:lnTo>
                      <a:lnTo>
                        <a:pt x="273" y="111"/>
                      </a:lnTo>
                      <a:lnTo>
                        <a:pt x="266" y="85"/>
                      </a:lnTo>
                      <a:lnTo>
                        <a:pt x="253" y="61"/>
                      </a:lnTo>
                      <a:lnTo>
                        <a:pt x="236" y="41"/>
                      </a:lnTo>
                      <a:lnTo>
                        <a:pt x="216" y="24"/>
                      </a:lnTo>
                      <a:lnTo>
                        <a:pt x="192" y="11"/>
                      </a:lnTo>
                      <a:lnTo>
                        <a:pt x="166" y="2"/>
                      </a:lnTo>
                      <a:lnTo>
                        <a:pt x="139" y="0"/>
                      </a:lnTo>
                      <a:lnTo>
                        <a:pt x="111" y="2"/>
                      </a:lnTo>
                      <a:lnTo>
                        <a:pt x="85" y="11"/>
                      </a:lnTo>
                      <a:lnTo>
                        <a:pt x="61" y="24"/>
                      </a:lnTo>
                      <a:lnTo>
                        <a:pt x="41" y="41"/>
                      </a:lnTo>
                      <a:lnTo>
                        <a:pt x="24" y="61"/>
                      </a:lnTo>
                      <a:lnTo>
                        <a:pt x="11" y="85"/>
                      </a:lnTo>
                      <a:lnTo>
                        <a:pt x="4" y="111"/>
                      </a:lnTo>
                      <a:lnTo>
                        <a:pt x="0" y="138"/>
                      </a:lnTo>
                      <a:lnTo>
                        <a:pt x="4" y="166"/>
                      </a:lnTo>
                      <a:lnTo>
                        <a:pt x="11" y="192"/>
                      </a:lnTo>
                      <a:lnTo>
                        <a:pt x="24" y="216"/>
                      </a:lnTo>
                      <a:lnTo>
                        <a:pt x="41" y="236"/>
                      </a:lnTo>
                      <a:lnTo>
                        <a:pt x="61" y="252"/>
                      </a:lnTo>
                      <a:lnTo>
                        <a:pt x="85" y="265"/>
                      </a:lnTo>
                      <a:lnTo>
                        <a:pt x="111" y="273"/>
                      </a:lnTo>
                      <a:lnTo>
                        <a:pt x="139" y="276"/>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88" name="Rectangle 39"/>
                <p:cNvSpPr/>
                <p:nvPr/>
              </p:nvSpPr>
              <p:spPr>
                <a:xfrm>
                  <a:off x="2203560" y="4597560"/>
                  <a:ext cx="558720" cy="7776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30960" rIns="90000" bIns="3096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
              <p:nvSpPr>
                <p:cNvPr id="89" name="Freeform 40"/>
                <p:cNvSpPr/>
                <p:nvPr/>
              </p:nvSpPr>
              <p:spPr>
                <a:xfrm>
                  <a:off x="2082960" y="472788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0" name="Freeform 41"/>
                <p:cNvSpPr/>
                <p:nvPr/>
              </p:nvSpPr>
              <p:spPr>
                <a:xfrm>
                  <a:off x="2082960" y="4999320"/>
                  <a:ext cx="215640" cy="201600"/>
                </a:xfrm>
                <a:custGeom>
                  <a:avLst/>
                  <a:gdLst>
                    <a:gd name="textAreaLeft" fmla="*/ 0 w 215640"/>
                    <a:gd name="textAreaRight" fmla="*/ 216000 w 215640"/>
                    <a:gd name="textAreaTop" fmla="*/ 0 h 201600"/>
                    <a:gd name="textAreaBottom" fmla="*/ 201960 h 201600"/>
                  </a:gdLst>
                  <a:ahLst/>
                  <a:cxnLst/>
                  <a:rect l="textAreaLeft" t="textAreaTop" r="textAreaRight" b="textAreaBottom"/>
                  <a:pathLst>
                    <a:path w="273" h="252">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2"/>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1" name="Freeform 42"/>
                <p:cNvSpPr/>
                <p:nvPr/>
              </p:nvSpPr>
              <p:spPr>
                <a:xfrm>
                  <a:off x="2082960" y="5286600"/>
                  <a:ext cx="215640" cy="200160"/>
                </a:xfrm>
                <a:custGeom>
                  <a:avLst/>
                  <a:gdLst>
                    <a:gd name="textAreaLeft" fmla="*/ 0 w 215640"/>
                    <a:gd name="textAreaRight" fmla="*/ 216000 w 215640"/>
                    <a:gd name="textAreaTop" fmla="*/ 0 h 200160"/>
                    <a:gd name="textAreaBottom" fmla="*/ 200520 h 200160"/>
                  </a:gdLst>
                  <a:ahLst/>
                  <a:cxnLst/>
                  <a:rect l="textAreaLeft" t="textAreaTop" r="textAreaRight" b="textAreaBottom"/>
                  <a:pathLst>
                    <a:path w="273" h="253">
                      <a:moveTo>
                        <a:pt x="251" y="0"/>
                      </a:moveTo>
                      <a:lnTo>
                        <a:pt x="0" y="0"/>
                      </a:lnTo>
                      <a:lnTo>
                        <a:pt x="0" y="52"/>
                      </a:lnTo>
                      <a:lnTo>
                        <a:pt x="48" y="52"/>
                      </a:lnTo>
                      <a:lnTo>
                        <a:pt x="50" y="61"/>
                      </a:lnTo>
                      <a:lnTo>
                        <a:pt x="57" y="83"/>
                      </a:lnTo>
                      <a:lnTo>
                        <a:pt x="72" y="116"/>
                      </a:lnTo>
                      <a:lnTo>
                        <a:pt x="92" y="153"/>
                      </a:lnTo>
                      <a:lnTo>
                        <a:pt x="122" y="190"/>
                      </a:lnTo>
                      <a:lnTo>
                        <a:pt x="163" y="223"/>
                      </a:lnTo>
                      <a:lnTo>
                        <a:pt x="212" y="245"/>
                      </a:lnTo>
                      <a:lnTo>
                        <a:pt x="273" y="253"/>
                      </a:lnTo>
                      <a:lnTo>
                        <a:pt x="25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2" name="Freeform 43"/>
                <p:cNvSpPr/>
                <p:nvPr/>
              </p:nvSpPr>
              <p:spPr>
                <a:xfrm>
                  <a:off x="2667240" y="4727880"/>
                  <a:ext cx="215640" cy="199800"/>
                </a:xfrm>
                <a:custGeom>
                  <a:avLst/>
                  <a:gdLst>
                    <a:gd name="textAreaLeft" fmla="*/ 0 w 215640"/>
                    <a:gd name="textAreaRight" fmla="*/ 216000 w 215640"/>
                    <a:gd name="textAreaTop" fmla="*/ 0 h 199800"/>
                    <a:gd name="textAreaBottom" fmla="*/ 200160 h 19980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3" name="Freeform 44"/>
                <p:cNvSpPr/>
                <p:nvPr/>
              </p:nvSpPr>
              <p:spPr>
                <a:xfrm>
                  <a:off x="2667240" y="4999320"/>
                  <a:ext cx="215640" cy="201600"/>
                </a:xfrm>
                <a:custGeom>
                  <a:avLst/>
                  <a:gdLst>
                    <a:gd name="textAreaLeft" fmla="*/ 0 w 215640"/>
                    <a:gd name="textAreaRight" fmla="*/ 216000 w 215640"/>
                    <a:gd name="textAreaTop" fmla="*/ 0 h 201600"/>
                    <a:gd name="textAreaBottom" fmla="*/ 201960 h 201600"/>
                  </a:gdLst>
                  <a:ahLst/>
                  <a:cxnLst/>
                  <a:rect l="textAreaLeft" t="textAreaTop" r="textAreaRight" b="textAreaBottom"/>
                  <a:pathLst>
                    <a:path w="273" h="252">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2"/>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4" name="Freeform 45"/>
                <p:cNvSpPr/>
                <p:nvPr/>
              </p:nvSpPr>
              <p:spPr>
                <a:xfrm>
                  <a:off x="2667240" y="5286600"/>
                  <a:ext cx="215640" cy="200160"/>
                </a:xfrm>
                <a:custGeom>
                  <a:avLst/>
                  <a:gdLst>
                    <a:gd name="textAreaLeft" fmla="*/ 0 w 215640"/>
                    <a:gd name="textAreaRight" fmla="*/ 216000 w 215640"/>
                    <a:gd name="textAreaTop" fmla="*/ 0 h 200160"/>
                    <a:gd name="textAreaBottom" fmla="*/ 200520 h 200160"/>
                  </a:gdLst>
                  <a:ahLst/>
                  <a:cxnLst/>
                  <a:rect l="textAreaLeft" t="textAreaTop" r="textAreaRight" b="textAreaBottom"/>
                  <a:pathLst>
                    <a:path w="273" h="253">
                      <a:moveTo>
                        <a:pt x="24" y="0"/>
                      </a:moveTo>
                      <a:lnTo>
                        <a:pt x="273" y="0"/>
                      </a:lnTo>
                      <a:lnTo>
                        <a:pt x="273" y="52"/>
                      </a:lnTo>
                      <a:lnTo>
                        <a:pt x="225" y="52"/>
                      </a:lnTo>
                      <a:lnTo>
                        <a:pt x="223" y="61"/>
                      </a:lnTo>
                      <a:lnTo>
                        <a:pt x="216" y="83"/>
                      </a:lnTo>
                      <a:lnTo>
                        <a:pt x="201" y="116"/>
                      </a:lnTo>
                      <a:lnTo>
                        <a:pt x="181" y="153"/>
                      </a:lnTo>
                      <a:lnTo>
                        <a:pt x="151" y="190"/>
                      </a:lnTo>
                      <a:lnTo>
                        <a:pt x="111" y="223"/>
                      </a:lnTo>
                      <a:lnTo>
                        <a:pt x="61" y="245"/>
                      </a:lnTo>
                      <a:lnTo>
                        <a:pt x="0" y="253"/>
                      </a:lnTo>
                      <a:lnTo>
                        <a:pt x="2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endParaRPr lang="en-US" sz="2400" b="1" strike="noStrike" spc="-1">
                    <a:solidFill>
                      <a:srgbClr val="FFFFFF"/>
                    </a:solidFill>
                    <a:latin typeface="Verdana"/>
                  </a:endParaRPr>
                </a:p>
              </p:txBody>
            </p:sp>
            <p:sp>
              <p:nvSpPr>
                <p:cNvPr id="95" name="Rectangle 46"/>
                <p:cNvSpPr/>
                <p:nvPr/>
              </p:nvSpPr>
              <p:spPr>
                <a:xfrm>
                  <a:off x="2452680" y="4419720"/>
                  <a:ext cx="60480" cy="30312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90000" tIns="46800" rIns="90000" bIns="46800" anchor="t">
                  <a:norm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sp>
            <p:nvSpPr>
              <p:cNvPr id="96" name="Oval 48"/>
              <p:cNvSpPr/>
              <p:nvPr/>
            </p:nvSpPr>
            <p:spPr>
              <a:xfrm>
                <a:off x="2371680" y="5286600"/>
                <a:ext cx="228600" cy="228600"/>
              </a:xfrm>
              <a:prstGeom prst="ellipse">
                <a:avLst/>
              </a:prstGeom>
              <a:solidFill>
                <a:srgbClr val="00FF00"/>
              </a:solidFill>
              <a:ln w="12600" cap="sq">
                <a:solidFill>
                  <a:srgbClr val="FFFFFF"/>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gr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9" presetClass="entr"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additive="repl">
                                        <p:cTn id="7" dur="500"/>
                                        <p:tgtEl>
                                          <p:spTgt spid="60"/>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9" presetClass="entr"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dissolve">
                                      <p:cBhvr additive="repl">
                                        <p:cTn id="12" dur="500"/>
                                        <p:tgtEl>
                                          <p:spTgt spid="77"/>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9" presetClass="entr"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dissolve">
                                      <p:cBhvr additive="repl">
                                        <p:cTn id="17" dur="500"/>
                                        <p:tgtEl>
                                          <p:spTgt spid="80"/>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9" presetClass="entr" fill="hold" nodeType="clickEffect">
                                  <p:stCondLst>
                                    <p:cond delay="0"/>
                                  </p:stCondLst>
                                  <p:childTnLst>
                                    <p:set>
                                      <p:cBhvr>
                                        <p:cTn id="21" dur="1" fill="hold">
                                          <p:stCondLst>
                                            <p:cond delay="0"/>
                                          </p:stCondLst>
                                        </p:cTn>
                                        <p:tgtEl>
                                          <p:spTgt spid="57">
                                            <p:txEl>
                                              <p:pRg st="0" end="0"/>
                                            </p:txEl>
                                          </p:spTgt>
                                        </p:tgtEl>
                                        <p:attrNameLst>
                                          <p:attrName>style.visibility</p:attrName>
                                        </p:attrNameLst>
                                      </p:cBhvr>
                                      <p:to>
                                        <p:strVal val="visible"/>
                                      </p:to>
                                    </p:set>
                                    <p:animEffect transition="in" filter="dissolve">
                                      <p:cBhvr additive="repl">
                                        <p:cTn id="22" dur="500"/>
                                        <p:tgtEl>
                                          <p:spTgt spid="57">
                                            <p:txEl>
                                              <p:pRg st="0" end="0"/>
                                            </p:txEl>
                                          </p:spTgt>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9" presetClass="entr" fill="hold" nodeType="clickEffect">
                                  <p:stCondLst>
                                    <p:cond delay="0"/>
                                  </p:stCondLst>
                                  <p:childTnLst>
                                    <p:set>
                                      <p:cBhvr>
                                        <p:cTn id="26" dur="1" fill="hold">
                                          <p:stCondLst>
                                            <p:cond delay="0"/>
                                          </p:stCondLst>
                                        </p:cTn>
                                        <p:tgtEl>
                                          <p:spTgt spid="57">
                                            <p:txEl>
                                              <p:pRg st="1" end="1"/>
                                            </p:txEl>
                                          </p:spTgt>
                                        </p:tgtEl>
                                        <p:attrNameLst>
                                          <p:attrName>style.visibility</p:attrName>
                                        </p:attrNameLst>
                                      </p:cBhvr>
                                      <p:to>
                                        <p:strVal val="visible"/>
                                      </p:to>
                                    </p:set>
                                    <p:animEffect transition="in" filter="dissolve">
                                      <p:cBhvr additive="repl">
                                        <p:cTn id="27" dur="500"/>
                                        <p:tgtEl>
                                          <p:spTgt spid="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96"/>
          <p:cNvSpPr txBox="1"/>
          <p:nvPr/>
        </p:nvSpPr>
        <p:spPr>
          <a:xfrm>
            <a:off x="355320" y="1295280"/>
            <a:ext cx="863604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EA mode ensures no application activity can occur until restore complete.</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Windows:</a:t>
            </a:r>
          </a:p>
          <a:p>
            <a:pPr marL="343080" indent="-343080">
              <a:lnSpc>
                <a:spcPct val="9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FFFF66"/>
                </a:solidFill>
                <a:latin typeface="Courier New"/>
              </a:rPr>
              <a:t>		iris start </a:t>
            </a:r>
            <a:r>
              <a:rPr lang="en-US" sz="1800" b="0" i="1" strike="noStrike" spc="-1" dirty="0" err="1">
                <a:solidFill>
                  <a:srgbClr val="FFFF66"/>
                </a:solidFill>
                <a:latin typeface="Courier New"/>
              </a:rPr>
              <a:t>InstanceName</a:t>
            </a:r>
            <a:r>
              <a:rPr lang="en-US" sz="1800" b="0" strike="noStrike" spc="-1" dirty="0">
                <a:solidFill>
                  <a:srgbClr val="FFFF66"/>
                </a:solidFill>
                <a:latin typeface="Courier New"/>
              </a:rPr>
              <a:t> /</a:t>
            </a:r>
            <a:r>
              <a:rPr lang="en-US" sz="1800" b="0" strike="noStrike" spc="-1" dirty="0" err="1">
                <a:solidFill>
                  <a:srgbClr val="FFFF66"/>
                </a:solidFill>
                <a:latin typeface="Courier New"/>
              </a:rPr>
              <a:t>EmergencyId</a:t>
            </a:r>
            <a:r>
              <a:rPr lang="en-US" sz="1800" b="0" strike="noStrike" spc="-1" dirty="0">
                <a:solidFill>
                  <a:srgbClr val="FFFF66"/>
                </a:solidFill>
                <a:latin typeface="Courier New"/>
              </a:rPr>
              <a:t>=</a:t>
            </a:r>
            <a:r>
              <a:rPr lang="en-US" sz="1800" b="0" i="1" strike="noStrike" spc="-1" dirty="0" err="1">
                <a:solidFill>
                  <a:srgbClr val="FFFF66"/>
                </a:solidFill>
                <a:latin typeface="Courier New"/>
              </a:rPr>
              <a:t>UserName</a:t>
            </a:r>
            <a:r>
              <a:rPr lang="en-US" sz="1800" b="0" strike="noStrike" spc="-1" dirty="0" err="1">
                <a:solidFill>
                  <a:srgbClr val="FFFF66"/>
                </a:solidFill>
                <a:latin typeface="Courier New"/>
              </a:rPr>
              <a:t>,</a:t>
            </a:r>
            <a:r>
              <a:rPr lang="en-US" sz="1800" b="0" i="1" strike="noStrike" spc="-1" dirty="0" err="1">
                <a:solidFill>
                  <a:srgbClr val="FFFF66"/>
                </a:solidFill>
                <a:latin typeface="Courier New"/>
              </a:rPr>
              <a:t>Password</a:t>
            </a:r>
            <a:endParaRPr lang="en-US" sz="1800" b="0" strike="noStrike" spc="-1" dirty="0">
              <a:solidFill>
                <a:srgbClr val="FFFF66"/>
              </a:solidFill>
              <a:latin typeface="Verdana"/>
            </a:endParaRPr>
          </a:p>
          <a:p>
            <a:pPr marL="343080" indent="-343080">
              <a:lnSpc>
                <a:spcPct val="90000"/>
              </a:lnSpc>
              <a:spcBef>
                <a:spcPts val="45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UNIX</a:t>
            </a:r>
            <a:r>
              <a:rPr lang="en-US" sz="2800" b="0" strike="noStrike" spc="-1" baseline="30000" dirty="0">
                <a:solidFill>
                  <a:srgbClr val="FFFF66"/>
                </a:solidFill>
                <a:latin typeface="Verdana"/>
              </a:rPr>
              <a:t>®</a:t>
            </a:r>
            <a:r>
              <a:rPr lang="en-US" sz="2800" b="0" strike="noStrike" spc="-1" dirty="0">
                <a:solidFill>
                  <a:srgbClr val="FFFF66"/>
                </a:solidFill>
                <a:latin typeface="Verdana"/>
              </a:rPr>
              <a:t> and Linux:</a:t>
            </a:r>
            <a:br>
              <a:rPr sz="2800" dirty="0"/>
            </a:br>
            <a:r>
              <a:rPr lang="en-US" sz="1800" b="0" strike="noStrike" spc="-1" dirty="0">
                <a:solidFill>
                  <a:srgbClr val="FFFF66"/>
                </a:solidFill>
                <a:latin typeface="Courier New"/>
              </a:rPr>
              <a:t>iris start </a:t>
            </a:r>
            <a:r>
              <a:rPr lang="en-US" sz="1800" b="0" i="1" strike="noStrike" spc="-1" dirty="0" err="1">
                <a:solidFill>
                  <a:srgbClr val="FFFF66"/>
                </a:solidFill>
                <a:latin typeface="Courier New"/>
              </a:rPr>
              <a:t>InstanceName</a:t>
            </a:r>
            <a:r>
              <a:rPr lang="en-US" sz="1800" b="0" strike="noStrike" spc="-1" dirty="0">
                <a:solidFill>
                  <a:srgbClr val="FFFF66"/>
                </a:solidFill>
                <a:latin typeface="Courier New"/>
              </a:rPr>
              <a:t> </a:t>
            </a:r>
            <a:r>
              <a:rPr lang="en-US" sz="1800" b="0" strike="noStrike" spc="-1" dirty="0" err="1">
                <a:solidFill>
                  <a:srgbClr val="FFFF66"/>
                </a:solidFill>
                <a:latin typeface="Courier New"/>
              </a:rPr>
              <a:t>EmergencyId</a:t>
            </a:r>
            <a:r>
              <a:rPr lang="en-US" sz="1800" b="0" strike="noStrike" spc="-1" dirty="0">
                <a:solidFill>
                  <a:srgbClr val="FFFF66"/>
                </a:solidFill>
                <a:latin typeface="Courier New"/>
              </a:rPr>
              <a:t>=</a:t>
            </a:r>
            <a:r>
              <a:rPr lang="en-US" sz="1800" b="0" i="1" strike="noStrike" spc="-1" dirty="0" err="1">
                <a:solidFill>
                  <a:srgbClr val="FFFF66"/>
                </a:solidFill>
                <a:latin typeface="Courier New"/>
              </a:rPr>
              <a:t>UserName</a:t>
            </a:r>
            <a:r>
              <a:rPr lang="en-US" sz="1800" b="0" strike="noStrike" spc="-1" dirty="0" err="1">
                <a:solidFill>
                  <a:srgbClr val="FFFF66"/>
                </a:solidFill>
                <a:latin typeface="Courier New"/>
              </a:rPr>
              <a:t>,</a:t>
            </a:r>
            <a:r>
              <a:rPr lang="en-US" sz="1800" b="0" i="1" strike="noStrike" spc="-1" dirty="0" err="1">
                <a:solidFill>
                  <a:srgbClr val="FFFF66"/>
                </a:solidFill>
                <a:latin typeface="Courier New"/>
              </a:rPr>
              <a:t>Password</a:t>
            </a:r>
            <a:endParaRPr lang="en-US" sz="1800" b="0" strike="noStrike" spc="-1" dirty="0">
              <a:solidFill>
                <a:srgbClr val="FFFF66"/>
              </a:solidFill>
              <a:latin typeface="Verdana"/>
            </a:endParaRP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Can use regular username and any password.</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User temporarily escalated into %All role.</a:t>
            </a:r>
          </a:p>
        </p:txBody>
      </p:sp>
      <p:sp>
        <p:nvSpPr>
          <p:cNvPr id="98"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Emergency Access During Restoration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p:cNvSpPr txBox="1"/>
          <p:nvPr/>
        </p:nvSpPr>
        <p:spPr>
          <a:xfrm>
            <a:off x="355680" y="1295280"/>
            <a:ext cx="8331120" cy="4724640"/>
          </a:xfrm>
          <a:prstGeom prst="rect">
            <a:avLst/>
          </a:prstGeom>
          <a:noFill/>
          <a:ln w="0">
            <a:noFill/>
          </a:ln>
        </p:spPr>
        <p:txBody>
          <a:bodyPr anchor="t">
            <a:normAutofit fontScale="93550"/>
          </a:bodyPr>
          <a:lstStyle/>
          <a:p>
            <a:pPr>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1. Begin with IRIS down.</a:t>
            </a:r>
          </a:p>
          <a:p>
            <a:pPr>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2. Restore all databases and WIJ from</a:t>
            </a: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    external backup files. </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Replaces all IRIS.DATs and IRIS.WIJ files.</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Assumes WIJ backed up with IRIS.DATs.</a:t>
            </a:r>
          </a:p>
          <a:p>
            <a:pPr>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3. Start in Emergency Access mode.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Instance performs WIJ and journal restore.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Restore any newer journals.</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Perform backup validation. (optional)</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Perform any other tasks needed. (optional)</a:t>
            </a: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4. Restart normally and allow users to</a:t>
            </a: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    connect.</a:t>
            </a: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dirty="0">
              <a:solidFill>
                <a:srgbClr val="FFFF66"/>
              </a:solidFill>
              <a:latin typeface="Verdana"/>
            </a:endParaRPr>
          </a:p>
        </p:txBody>
      </p:sp>
      <p:sp>
        <p:nvSpPr>
          <p:cNvPr id="100" name="PlaceHolder 1"/>
          <p:cNvSpPr>
            <a:spLocks noGrp="1"/>
          </p:cNvSpPr>
          <p:nvPr>
            <p:ph type="title"/>
          </p:nvPr>
        </p:nvSpPr>
        <p:spPr>
          <a:xfrm>
            <a:off x="151920" y="152280"/>
            <a:ext cx="754380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dirty="0">
                <a:solidFill>
                  <a:srgbClr val="FFFF66"/>
                </a:solidFill>
                <a:latin typeface="Verdana"/>
              </a:rPr>
              <a:t>How To: </a:t>
            </a:r>
            <a:r>
              <a:rPr lang="en-US" sz="3500" strike="noStrike" spc="-1" dirty="0">
                <a:solidFill>
                  <a:srgbClr val="FFFF66"/>
                </a:solidFill>
                <a:latin typeface="Verdana"/>
              </a:rPr>
              <a:t>Full</a:t>
            </a:r>
            <a:r>
              <a:rPr lang="en-US" sz="3500" b="0" strike="noStrike" spc="-1" dirty="0">
                <a:solidFill>
                  <a:srgbClr val="FFFF66"/>
                </a:solidFill>
                <a:latin typeface="Verdana"/>
              </a:rPr>
              <a:t> Restore Using External Backup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0"/>
          <p:cNvSpPr txBox="1"/>
          <p:nvPr/>
        </p:nvSpPr>
        <p:spPr>
          <a:xfrm>
            <a:off x="355680" y="1218960"/>
            <a:ext cx="8331120" cy="4724280"/>
          </a:xfrm>
          <a:prstGeom prst="rect">
            <a:avLst/>
          </a:prstGeom>
          <a:noFill/>
          <a:ln w="0">
            <a:noFill/>
          </a:ln>
        </p:spPr>
        <p:txBody>
          <a:bodyPr anchor="t">
            <a:normAutofit/>
          </a:bodyPr>
          <a:lstStyle/>
          <a:p>
            <a:pPr>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1. Start in Emergency Access mode.</a:t>
            </a:r>
          </a:p>
          <a:p>
            <a:pPr>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2. Restore appropriate databases from</a:t>
            </a: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    external backup files. </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Replace appropriate IRIS.DAT files.</a:t>
            </a:r>
          </a:p>
          <a:p>
            <a:pPr>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3. Restore journals for restored databases.</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Determine correct journal file to start with.</a:t>
            </a:r>
          </a:p>
          <a:p>
            <a:pPr marL="1143000" lvl="2" indent="-228600">
              <a:lnSpc>
                <a:spcPct val="90000"/>
              </a:lnSpc>
              <a:spcBef>
                <a:spcPts val="300"/>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66"/>
                </a:solidFill>
                <a:latin typeface="Verdana"/>
              </a:rPr>
              <a:t>Check Messages Log for recommended file.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Perform backup validation. (optional)</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Perform any other tasks needed. (optional)</a:t>
            </a:r>
          </a:p>
          <a:p>
            <a:pPr>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4. Restart normally and allow users to</a:t>
            </a:r>
          </a:p>
          <a:p>
            <a:pPr>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    connect.</a:t>
            </a:r>
          </a:p>
        </p:txBody>
      </p:sp>
      <p:sp>
        <p:nvSpPr>
          <p:cNvPr id="102" name="PlaceHolder 1"/>
          <p:cNvSpPr>
            <a:spLocks noGrp="1"/>
          </p:cNvSpPr>
          <p:nvPr>
            <p:ph type="title"/>
          </p:nvPr>
        </p:nvSpPr>
        <p:spPr>
          <a:xfrm>
            <a:off x="151920" y="152280"/>
            <a:ext cx="716292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dirty="0">
                <a:solidFill>
                  <a:srgbClr val="FFFF66"/>
                </a:solidFill>
                <a:latin typeface="Verdana"/>
              </a:rPr>
              <a:t>How To: </a:t>
            </a:r>
            <a:r>
              <a:rPr lang="en-US" sz="3500" strike="noStrike" spc="-1" dirty="0">
                <a:solidFill>
                  <a:srgbClr val="FFFF66"/>
                </a:solidFill>
                <a:latin typeface="Verdana"/>
              </a:rPr>
              <a:t>Partial</a:t>
            </a:r>
            <a:r>
              <a:rPr lang="en-US" sz="3500" b="0" strike="noStrike" spc="-1" dirty="0">
                <a:solidFill>
                  <a:srgbClr val="FFFF66"/>
                </a:solidFill>
                <a:latin typeface="Verdana"/>
              </a:rPr>
              <a:t> Restore Using External Backup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2"/>
          <p:cNvSpPr txBox="1"/>
          <p:nvPr/>
        </p:nvSpPr>
        <p:spPr>
          <a:xfrm>
            <a:off x="355680" y="1295280"/>
            <a:ext cx="8331120" cy="4724640"/>
          </a:xfrm>
          <a:prstGeom prst="rect">
            <a:avLst/>
          </a:prstGeom>
          <a:noFill/>
          <a:ln w="0">
            <a:noFill/>
          </a:ln>
        </p:spPr>
        <p:txBody>
          <a:bodyPr anchor="t">
            <a:normAutofit lnSpcReduction="10000"/>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Full System Restore: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If WIJ available:</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66"/>
                </a:solidFill>
                <a:latin typeface="Verdana"/>
              </a:rPr>
              <a:t>Can automatically restore journals based on WIJ pointers.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If WIJ unavailable:</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66"/>
                </a:solidFill>
                <a:latin typeface="Verdana"/>
              </a:rPr>
              <a:t>Must manually restore journals.</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FFFF66"/>
                </a:solidFill>
                <a:latin typeface="Verdana"/>
              </a:rPr>
              <a:t>Refer to </a:t>
            </a:r>
            <a:r>
              <a:rPr lang="en-US" sz="2000" b="0" i="1" strike="noStrike" spc="-1" dirty="0">
                <a:solidFill>
                  <a:srgbClr val="FFFF66"/>
                </a:solidFill>
                <a:latin typeface="Verdana"/>
              </a:rPr>
              <a:t>Data Integrity Guide</a:t>
            </a:r>
            <a:r>
              <a:rPr lang="en-US" sz="2000" b="0" strike="noStrike" spc="-1" dirty="0">
                <a:solidFill>
                  <a:srgbClr val="FFFF66"/>
                </a:solidFill>
                <a:latin typeface="Verdana"/>
              </a:rPr>
              <a:t> &gt; </a:t>
            </a:r>
            <a:r>
              <a:rPr lang="en-US" sz="2000" b="0" i="1" strike="noStrike" spc="-1" dirty="0">
                <a:solidFill>
                  <a:srgbClr val="FFFF66"/>
                </a:solidFill>
                <a:latin typeface="Verdana"/>
              </a:rPr>
              <a:t>Backup and Restore</a:t>
            </a:r>
            <a:r>
              <a:rPr lang="en-US" sz="2000" b="0" strike="noStrike" spc="-1" dirty="0">
                <a:solidFill>
                  <a:srgbClr val="FFFF66"/>
                </a:solidFill>
                <a:latin typeface="Verdana"/>
              </a:rPr>
              <a:t>.</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dirty="0">
                <a:solidFill>
                  <a:srgbClr val="FFFF66"/>
                </a:solidFill>
                <a:latin typeface="Verdana"/>
              </a:rPr>
              <a:t>Partial System Restore: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Databases that survived crash require current WIJ for proper recovery.</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Do not apply current WIJ to restored databases.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FFFF66"/>
                </a:solidFill>
                <a:latin typeface="Verdana"/>
              </a:rPr>
              <a:t>Do not restore backed-up WIJ.</a:t>
            </a:r>
          </a:p>
        </p:txBody>
      </p:sp>
      <p:sp>
        <p:nvSpPr>
          <p:cNvPr id="104" name="PlaceHolder 1"/>
          <p:cNvSpPr>
            <a:spLocks noGrp="1"/>
          </p:cNvSpPr>
          <p:nvPr>
            <p:ph type="title" idx="4294967295"/>
          </p:nvPr>
        </p:nvSpPr>
        <p:spPr>
          <a:xfrm>
            <a:off x="0" y="152400"/>
            <a:ext cx="8839200" cy="106680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WIJ in External Backup Restores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Box 104"/>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For transactional consistency, must apply journals after database restore.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Without restoring journals, can have open transactions.</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If post-backup journal files not available, apply pre-backup journal files.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Allows IRIS to determine open transactions starting with those journal files.</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Permits rollback of those open transactions.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Determine number of pre-backup journal files to apply based on application.</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Usually no more than one day prior to backup.</a:t>
            </a:r>
          </a:p>
        </p:txBody>
      </p:sp>
      <p:sp>
        <p:nvSpPr>
          <p:cNvPr id="106"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Restore and Transactions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Online Backup</a:t>
            </a:r>
          </a:p>
        </p:txBody>
      </p:sp>
      <p:sp>
        <p:nvSpPr>
          <p:cNvPr id="108" name="PlaceHolder 2"/>
          <p:cNvSpPr>
            <a:spLocks noGrp="1"/>
          </p:cNvSpPr>
          <p:nvPr>
            <p:ph/>
          </p:nvPr>
        </p:nvSpPr>
        <p:spPr>
          <a:xfrm>
            <a:off x="355680" y="1295280"/>
            <a:ext cx="8331120" cy="2438640"/>
          </a:xfrm>
          <a:prstGeom prst="rect">
            <a:avLst/>
          </a:prstGeom>
          <a:noFill/>
          <a:ln w="0">
            <a:noFill/>
          </a:ln>
        </p:spPr>
        <p:txBody>
          <a:bodyPr lIns="91440" tIns="45720" rIns="91440" bIns="45720" anchor="t">
            <a:normAutofit/>
          </a:bodyPr>
          <a:lstStyle/>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InterSystems backup mechanism.</a:t>
            </a:r>
          </a:p>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Application continues to run during backup.</a:t>
            </a:r>
          </a:p>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Only backs up IRIS.DAT files.</a:t>
            </a:r>
          </a:p>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Backup and restore slower than external backup.</a:t>
            </a:r>
          </a:p>
        </p:txBody>
      </p:sp>
      <p:sp>
        <p:nvSpPr>
          <p:cNvPr id="109" name="AutoShape 7"/>
          <p:cNvSpPr/>
          <p:nvPr/>
        </p:nvSpPr>
        <p:spPr>
          <a:xfrm>
            <a:off x="1523880" y="3657600"/>
            <a:ext cx="2590920" cy="2035080"/>
          </a:xfrm>
          <a:prstGeom prst="flowChartMagneticDisk">
            <a:avLst/>
          </a:prstGeom>
          <a:solidFill>
            <a:srgbClr val="B2B2B2"/>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IRIS.DAT</a:t>
            </a:r>
            <a:endParaRPr lang="en-US" sz="2400" b="1" strike="noStrike" spc="-1">
              <a:solidFill>
                <a:srgbClr val="FFFFFF"/>
              </a:solidFill>
              <a:latin typeface="Verdana"/>
            </a:endParaRPr>
          </a:p>
        </p:txBody>
      </p:sp>
      <p:sp>
        <p:nvSpPr>
          <p:cNvPr id="110" name="AutoShape 11"/>
          <p:cNvSpPr/>
          <p:nvPr/>
        </p:nvSpPr>
        <p:spPr>
          <a:xfrm>
            <a:off x="4267080" y="4343400"/>
            <a:ext cx="1905120" cy="762120"/>
          </a:xfrm>
          <a:prstGeom prst="rightArrow">
            <a:avLst>
              <a:gd name="adj1" fmla="val 50000"/>
              <a:gd name="adj2" fmla="val 62494"/>
            </a:avLst>
          </a:prstGeom>
          <a:solidFill>
            <a:srgbClr val="FF0000"/>
          </a:solidFill>
          <a:ln w="324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Backup</a:t>
            </a:r>
            <a:endParaRPr lang="en-US" sz="2400" b="1" strike="noStrike" spc="-1">
              <a:solidFill>
                <a:srgbClr val="FFFFFF"/>
              </a:solidFill>
              <a:latin typeface="Verdana"/>
            </a:endParaRPr>
          </a:p>
        </p:txBody>
      </p:sp>
      <p:sp>
        <p:nvSpPr>
          <p:cNvPr id="111" name="Rectangle 19"/>
          <p:cNvSpPr/>
          <p:nvPr/>
        </p:nvSpPr>
        <p:spPr>
          <a:xfrm>
            <a:off x="6324480" y="3787920"/>
            <a:ext cx="1524240" cy="1904760"/>
          </a:xfrm>
          <a:prstGeom prst="rect">
            <a:avLst/>
          </a:prstGeom>
          <a:solidFill>
            <a:srgbClr val="B2B2B2"/>
          </a:solidFill>
          <a:ln w="12600" cap="sq">
            <a:solidFill>
              <a:srgbClr val="1C1C1C"/>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Backup</a:t>
            </a:r>
            <a:endParaRPr lang="en-US" sz="2400" b="1" strike="noStrike" spc="-1">
              <a:solidFill>
                <a:srgbClr val="FFFFFF"/>
              </a:solidFill>
              <a:latin typeface="Verdana"/>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1C1C1C"/>
                </a:solidFill>
                <a:latin typeface="Verdana"/>
              </a:rPr>
              <a:t>File</a:t>
            </a:r>
            <a:endParaRPr lang="en-US" sz="2400" b="1" strike="noStrike" spc="-1">
              <a:solidFill>
                <a:srgbClr val="FFFFFF"/>
              </a:solidFill>
              <a:latin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Box 111"/>
          <p:cNvSpPr txBox="1"/>
          <p:nvPr/>
        </p:nvSpPr>
        <p:spPr>
          <a:xfrm>
            <a:off x="355680" y="1295280"/>
            <a:ext cx="8331120" cy="4724640"/>
          </a:xfrm>
          <a:prstGeom prst="rect">
            <a:avLst/>
          </a:prstGeom>
          <a:noFill/>
          <a:ln w="0">
            <a:noFill/>
          </a:ln>
        </p:spPr>
        <p:txBody>
          <a:bodyPr anchor="t">
            <a:normAutofit fontScale="96763" lnSpcReduction="20000"/>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Allow consistent snapshot of database at point in time.</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Users continue uninterrupted.</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First pass backs up all blocks.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Begin tracking any blocks changing from this point.</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Second…nth pass, including final pass.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Backup blocks changed during previous pass.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During final pass, Write Daemon freezes, and thaws after final pass completes.</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Typically, three passes are sufficient.</a:t>
            </a:r>
          </a:p>
        </p:txBody>
      </p:sp>
      <p:sp>
        <p:nvSpPr>
          <p:cNvPr id="113"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Multiple Backup Passes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3"/>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Full.</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Complete backup of database.  </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Cumulative.</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Tracks all changes since last full backup.</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Incremental.</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Tracks all changes since last backup, regardless of previous backup type.</a:t>
            </a:r>
          </a:p>
        </p:txBody>
      </p:sp>
      <p:sp>
        <p:nvSpPr>
          <p:cNvPr id="115"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Types of Backup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a:t>
            </a:r>
            <a:br>
              <a:rPr sz="3500"/>
            </a:br>
            <a:r>
              <a:rPr lang="en-US" sz="3500" b="0" strike="noStrike" spc="-1">
                <a:solidFill>
                  <a:srgbClr val="FFFF66"/>
                </a:solidFill>
                <a:latin typeface="Verdana"/>
              </a:rPr>
              <a:t>Configure Backup</a:t>
            </a:r>
          </a:p>
        </p:txBody>
      </p:sp>
      <p:sp>
        <p:nvSpPr>
          <p:cNvPr id="117" name="PlaceHolder 2"/>
          <p:cNvSpPr>
            <a:spLocks noGrp="1"/>
          </p:cNvSpPr>
          <p:nvPr>
            <p:ph/>
          </p:nvPr>
        </p:nvSpPr>
        <p:spPr>
          <a:xfrm>
            <a:off x="355680" y="1295280"/>
            <a:ext cx="8331120" cy="2286000"/>
          </a:xfrm>
          <a:prstGeom prst="rect">
            <a:avLst/>
          </a:prstGeom>
          <a:noFill/>
          <a:ln w="0">
            <a:noFill/>
          </a:ln>
        </p:spPr>
        <p:txBody>
          <a:bodyPr lIns="91440" tIns="45720" rIns="91440" bIns="45720" anchor="t">
            <a:normAutofit/>
          </a:bodyPr>
          <a:lstStyle/>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Create Database List.</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System Administration &gt; Configuration &gt; Database Backup &gt; Database Backup List.</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Courier New"/>
              </a:rPr>
              <a:t>%SYS&gt;do ^BACKUP</a:t>
            </a:r>
            <a:r>
              <a:rPr lang="en-US" sz="2000" b="0" strike="noStrike" spc="-1">
                <a:solidFill>
                  <a:srgbClr val="FFFF66"/>
                </a:solidFill>
                <a:latin typeface="Verdana"/>
              </a:rPr>
              <a:t>.</a:t>
            </a:r>
          </a:p>
        </p:txBody>
      </p:sp>
      <p:pic>
        <p:nvPicPr>
          <p:cNvPr id="118" name="Picture 1"/>
          <p:cNvPicPr/>
          <p:nvPr/>
        </p:nvPicPr>
        <p:blipFill>
          <a:blip r:embed="rId3"/>
          <a:stretch/>
        </p:blipFill>
        <p:spPr>
          <a:xfrm>
            <a:off x="1974960" y="3505320"/>
            <a:ext cx="5194080" cy="2422440"/>
          </a:xfrm>
          <a:prstGeom prst="rect">
            <a:avLst/>
          </a:prstGeom>
          <a:ln w="9360">
            <a:solidFill>
              <a:srgbClr val="1C1C1C"/>
            </a:solidFill>
            <a:miter/>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a:t>
            </a:r>
            <a:br>
              <a:rPr sz="3500"/>
            </a:br>
            <a:r>
              <a:rPr lang="en-US" sz="3500" b="0" strike="noStrike" spc="-1">
                <a:solidFill>
                  <a:srgbClr val="FFFF66"/>
                </a:solidFill>
                <a:latin typeface="Verdana"/>
              </a:rPr>
              <a:t>Configure Backup (cont.)</a:t>
            </a:r>
          </a:p>
        </p:txBody>
      </p:sp>
      <p:sp>
        <p:nvSpPr>
          <p:cNvPr id="120" name="PlaceHolder 2"/>
          <p:cNvSpPr>
            <a:spLocks noGrp="1"/>
          </p:cNvSpPr>
          <p:nvPr>
            <p:ph/>
          </p:nvPr>
        </p:nvSpPr>
        <p:spPr>
          <a:xfrm>
            <a:off x="355680" y="1295280"/>
            <a:ext cx="8331120" cy="2286000"/>
          </a:xfrm>
          <a:prstGeom prst="rect">
            <a:avLst/>
          </a:prstGeom>
          <a:noFill/>
          <a:ln w="0">
            <a:noFill/>
          </a:ln>
        </p:spPr>
        <p:txBody>
          <a:bodyPr lIns="91440" tIns="45720" rIns="91440" bIns="45720" anchor="t">
            <a:normAutofit/>
          </a:bodyPr>
          <a:lstStyle/>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Configure location for backup file.</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System Administration &gt; Configuration &gt; Database Backup &gt; Choose appropriate type of backup.</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^BACKUP routine prompts for location.</a:t>
            </a:r>
          </a:p>
        </p:txBody>
      </p:sp>
      <p:pic>
        <p:nvPicPr>
          <p:cNvPr id="121" name="Picture 1"/>
          <p:cNvPicPr/>
          <p:nvPr/>
        </p:nvPicPr>
        <p:blipFill>
          <a:blip r:embed="rId3"/>
          <a:stretch/>
        </p:blipFill>
        <p:spPr>
          <a:xfrm>
            <a:off x="1974960" y="3505320"/>
            <a:ext cx="5194080" cy="2422440"/>
          </a:xfrm>
          <a:prstGeom prst="rect">
            <a:avLst/>
          </a:prstGeom>
          <a:ln w="9360">
            <a:solidFill>
              <a:srgbClr val="1C1C1C"/>
            </a:solidFill>
            <a:miter/>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Box 121"/>
          <p:cNvSpPr txBox="1"/>
          <p:nvPr/>
        </p:nvSpPr>
        <p:spPr>
          <a:xfrm>
            <a:off x="355680" y="1295280"/>
            <a:ext cx="8331120" cy="4724640"/>
          </a:xfrm>
          <a:prstGeom prst="rect">
            <a:avLst/>
          </a:prstGeom>
          <a:noFill/>
          <a:ln w="0">
            <a:noFill/>
          </a:ln>
        </p:spPr>
        <p:txBody>
          <a:bodyPr anchor="t">
            <a:normAutofit/>
          </a:bodyPr>
          <a:lstStyle/>
          <a:p>
            <a:pPr marL="343080" indent="-343080">
              <a:lnSpc>
                <a:spcPct val="10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Courier New"/>
              </a:rPr>
              <a:t>%SYS&gt;do ^DBSIZE</a:t>
            </a:r>
            <a:r>
              <a:rPr lang="en-US" sz="2400" b="0" strike="noStrike" spc="-1">
                <a:solidFill>
                  <a:srgbClr val="FFFF66"/>
                </a:solidFill>
                <a:latin typeface="Verdana"/>
              </a:rPr>
              <a:t>.</a:t>
            </a:r>
          </a:p>
        </p:txBody>
      </p:sp>
      <p:sp>
        <p:nvSpPr>
          <p:cNvPr id="123"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a:t>
            </a:r>
            <a:br>
              <a:rPr sz="3500"/>
            </a:br>
            <a:r>
              <a:rPr lang="en-US" sz="3500" b="0" strike="noStrike" spc="-1">
                <a:solidFill>
                  <a:srgbClr val="FFFF66"/>
                </a:solidFill>
                <a:latin typeface="Verdana"/>
              </a:rPr>
              <a:t>Estimate Backup Size</a:t>
            </a:r>
          </a:p>
        </p:txBody>
      </p:sp>
      <p:pic>
        <p:nvPicPr>
          <p:cNvPr id="124" name="Picture 2"/>
          <p:cNvPicPr/>
          <p:nvPr/>
        </p:nvPicPr>
        <p:blipFill>
          <a:blip r:embed="rId3"/>
          <a:stretch/>
        </p:blipFill>
        <p:spPr>
          <a:xfrm>
            <a:off x="423720" y="2057400"/>
            <a:ext cx="8296560" cy="3200400"/>
          </a:xfrm>
          <a:prstGeom prst="rect">
            <a:avLst/>
          </a:prstGeom>
          <a:ln w="9360">
            <a:solidFill>
              <a:srgbClr val="1C1C1C"/>
            </a:solidFill>
            <a:miter/>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a:t>
            </a:r>
            <a:br>
              <a:rPr sz="3500"/>
            </a:br>
            <a:r>
              <a:rPr lang="en-US" sz="3500" b="0" strike="noStrike" spc="-1">
                <a:solidFill>
                  <a:srgbClr val="FFFF66"/>
                </a:solidFill>
                <a:latin typeface="Verdana"/>
              </a:rPr>
              <a:t>Run a Backup</a:t>
            </a:r>
          </a:p>
        </p:txBody>
      </p:sp>
      <p:sp>
        <p:nvSpPr>
          <p:cNvPr id="126" name="PlaceHolder 2"/>
          <p:cNvSpPr>
            <a:spLocks noGrp="1"/>
          </p:cNvSpPr>
          <p:nvPr>
            <p:ph/>
          </p:nvPr>
        </p:nvSpPr>
        <p:spPr>
          <a:xfrm>
            <a:off x="355680" y="1295280"/>
            <a:ext cx="8331120" cy="2286000"/>
          </a:xfrm>
          <a:prstGeom prst="rect">
            <a:avLst/>
          </a:prstGeom>
          <a:noFill/>
          <a:ln w="0">
            <a:noFill/>
          </a:ln>
        </p:spPr>
        <p:txBody>
          <a:bodyPr lIns="91440" tIns="45720" rIns="91440" bIns="45720" anchor="t">
            <a:normAutofit/>
          </a:bodyPr>
          <a:lstStyle/>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System Operation &gt; Backup &gt; Choose appropriate type of backup.</a:t>
            </a:r>
          </a:p>
          <a:p>
            <a:pPr marL="343080" indent="-343080">
              <a:lnSpc>
                <a:spcPct val="10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Courier New"/>
              </a:rPr>
              <a:t>%SYS&gt;do ^BACKUP</a:t>
            </a:r>
            <a:r>
              <a:rPr lang="en-US" sz="2400" b="0" strike="noStrike" spc="-1">
                <a:solidFill>
                  <a:srgbClr val="FFFF66"/>
                </a:solidFill>
                <a:latin typeface="Verdana"/>
              </a:rPr>
              <a:t>.</a:t>
            </a:r>
          </a:p>
        </p:txBody>
      </p:sp>
      <p:pic>
        <p:nvPicPr>
          <p:cNvPr id="127" name="Picture 1"/>
          <p:cNvPicPr/>
          <p:nvPr/>
        </p:nvPicPr>
        <p:blipFill>
          <a:blip r:embed="rId3"/>
          <a:stretch/>
        </p:blipFill>
        <p:spPr>
          <a:xfrm>
            <a:off x="698400" y="2590920"/>
            <a:ext cx="7747200" cy="3581280"/>
          </a:xfrm>
          <a:prstGeom prst="rect">
            <a:avLst/>
          </a:prstGeom>
          <a:ln w="9360">
            <a:solidFill>
              <a:srgbClr val="1C1C1C"/>
            </a:solidFill>
            <a:miter/>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7"/>
          <p:cNvSpPr txBox="1"/>
          <p:nvPr/>
        </p:nvSpPr>
        <p:spPr>
          <a:xfrm>
            <a:off x="355680" y="1295280"/>
            <a:ext cx="8331120" cy="4724640"/>
          </a:xfrm>
          <a:prstGeom prst="rect">
            <a:avLst/>
          </a:prstGeom>
          <a:noFill/>
          <a:ln w="0">
            <a:noFill/>
          </a:ln>
        </p:spPr>
        <p:txBody>
          <a:bodyPr anchor="t">
            <a:normAutofit fontScale="98192" lnSpcReduction="20000"/>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Management Portal.</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While running:</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System Operation &gt; Backup &gt; Run Backup &gt; Click here to view status.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After backup:</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System Operation &gt; Backup &gt; Backup History &gt; Click View for backup.</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Log created during backup.</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Using </a:t>
            </a:r>
            <a:r>
              <a:rPr lang="en-US" sz="2800" b="0" strike="noStrike" spc="-1">
                <a:solidFill>
                  <a:srgbClr val="FFFF66"/>
                </a:solidFill>
                <a:latin typeface="Courier New"/>
              </a:rPr>
              <a:t>%SYS&gt;do ^BACKUP</a:t>
            </a:r>
            <a:r>
              <a:rPr lang="en-US" sz="2800" b="0" strike="noStrike" spc="-1">
                <a:solidFill>
                  <a:srgbClr val="FFFF66"/>
                </a:solidFill>
                <a:latin typeface="Verdana"/>
              </a:rPr>
              <a:t>:</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No log provided but can turn on logging for Terminal session.</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File &gt; Logging.</a:t>
            </a:r>
          </a:p>
        </p:txBody>
      </p:sp>
      <p:sp>
        <p:nvSpPr>
          <p:cNvPr id="129"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 </a:t>
            </a:r>
            <a:br>
              <a:rPr sz="3500"/>
            </a:br>
            <a:r>
              <a:rPr lang="en-US" sz="3500" b="0" strike="noStrike" spc="-1">
                <a:solidFill>
                  <a:srgbClr val="FFFF66"/>
                </a:solidFill>
                <a:latin typeface="Verdana"/>
              </a:rPr>
              <a:t>Review Backup 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Box 129"/>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i="1" strike="noStrike" spc="-1">
                <a:solidFill>
                  <a:srgbClr val="FFFF66"/>
                </a:solidFill>
                <a:latin typeface="Verdana"/>
              </a:rPr>
              <a:t>TypeofBackup</a:t>
            </a:r>
            <a:r>
              <a:rPr lang="en-US" sz="2800" b="0" strike="noStrike" spc="-1">
                <a:solidFill>
                  <a:srgbClr val="FFFF66"/>
                </a:solidFill>
                <a:latin typeface="Verdana"/>
              </a:rPr>
              <a:t>_</a:t>
            </a:r>
            <a:r>
              <a:rPr lang="en-US" sz="2800" b="0" i="1" strike="noStrike" spc="-1">
                <a:solidFill>
                  <a:srgbClr val="FFFF66"/>
                </a:solidFill>
                <a:latin typeface="Verdana"/>
              </a:rPr>
              <a:t>Date</a:t>
            </a:r>
            <a:r>
              <a:rPr lang="en-US" sz="2800" b="0" strike="noStrike" spc="-1">
                <a:solidFill>
                  <a:srgbClr val="FFFF66"/>
                </a:solidFill>
                <a:latin typeface="Verdana"/>
              </a:rPr>
              <a:t>_</a:t>
            </a:r>
            <a:r>
              <a:rPr lang="en-US" sz="2800" b="0" i="1" strike="noStrike" spc="-1">
                <a:solidFill>
                  <a:srgbClr val="FFFF66"/>
                </a:solidFill>
                <a:latin typeface="Verdana"/>
              </a:rPr>
              <a:t>Number</a:t>
            </a:r>
            <a:r>
              <a:rPr lang="en-US" sz="2800" b="0" strike="noStrike" spc="-1">
                <a:solidFill>
                  <a:srgbClr val="FFFF66"/>
                </a:solidFill>
                <a:latin typeface="Verdana"/>
              </a:rPr>
              <a:t>.cbk</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FullDBList_20250401_001.cbk </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Backup files not automatically purged from OS.</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Monitor available space in backup directory.</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Delete or move files as needed.</a:t>
            </a:r>
          </a:p>
        </p:txBody>
      </p:sp>
      <p:sp>
        <p:nvSpPr>
          <p:cNvPr id="131"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Backup Files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a:t>
            </a:r>
            <a:br>
              <a:rPr sz="3500"/>
            </a:br>
            <a:r>
              <a:rPr lang="en-US" sz="3500" b="0" strike="noStrike" spc="-1">
                <a:solidFill>
                  <a:srgbClr val="FFFF66"/>
                </a:solidFill>
                <a:latin typeface="Verdana"/>
              </a:rPr>
              <a:t>Restore using ^BACKUP</a:t>
            </a:r>
          </a:p>
        </p:txBody>
      </p:sp>
      <p:sp>
        <p:nvSpPr>
          <p:cNvPr id="133" name="PlaceHolder 2"/>
          <p:cNvSpPr>
            <a:spLocks noGrp="1"/>
          </p:cNvSpPr>
          <p:nvPr>
            <p:ph/>
          </p:nvPr>
        </p:nvSpPr>
        <p:spPr>
          <a:xfrm>
            <a:off x="355680" y="1295280"/>
            <a:ext cx="8331120" cy="2286000"/>
          </a:xfrm>
          <a:prstGeom prst="rect">
            <a:avLst/>
          </a:prstGeom>
          <a:noFill/>
          <a:ln w="0">
            <a:noFill/>
          </a:ln>
        </p:spPr>
        <p:txBody>
          <a:bodyPr lIns="91440" tIns="45720" rIns="91440" bIns="45720" anchor="t">
            <a:normAutofit/>
          </a:bodyPr>
          <a:lstStyle/>
          <a:p>
            <a:pPr marL="343080" indent="-343080">
              <a:lnSpc>
                <a:spcPct val="10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Courier New"/>
              </a:rPr>
              <a:t>%SYS&gt;do ^BACKUP</a:t>
            </a:r>
            <a:r>
              <a:rPr lang="en-US" sz="2400" b="0" strike="noStrike" spc="-1">
                <a:solidFill>
                  <a:srgbClr val="FFFF66"/>
                </a:solidFill>
                <a:latin typeface="Verdana"/>
              </a:rPr>
              <a:t>.</a:t>
            </a:r>
          </a:p>
          <a:p>
            <a:pPr marL="343080" indent="-343080">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Select option:</a:t>
            </a:r>
          </a:p>
          <a:p>
            <a:pPr marL="743040" lvl="1" indent="-285840">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Restore ALL.</a:t>
            </a:r>
          </a:p>
          <a:p>
            <a:pPr marL="743040" lvl="1" indent="-285840">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Restore Selected.</a:t>
            </a:r>
          </a:p>
        </p:txBody>
      </p:sp>
      <p:pic>
        <p:nvPicPr>
          <p:cNvPr id="134" name="Picture 2"/>
          <p:cNvPicPr/>
          <p:nvPr/>
        </p:nvPicPr>
        <p:blipFill>
          <a:blip r:embed="rId3"/>
          <a:srcRect l="186"/>
          <a:stretch/>
        </p:blipFill>
        <p:spPr>
          <a:xfrm>
            <a:off x="1143000" y="2971800"/>
            <a:ext cx="6870600" cy="3164040"/>
          </a:xfrm>
          <a:prstGeom prst="rect">
            <a:avLst/>
          </a:prstGeom>
          <a:ln w="9360">
            <a:solidFill>
              <a:srgbClr val="1C1C1C"/>
            </a:solidFill>
            <a:miter/>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34"/>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No users should be on system.</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Restore backups: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sng" strike="noStrike" spc="-1">
                <a:solidFill>
                  <a:srgbClr val="FFFF66"/>
                </a:solidFill>
                <a:uFillTx/>
                <a:latin typeface="Verdana"/>
              </a:rPr>
              <a:t>Last full backup</a:t>
            </a:r>
            <a:r>
              <a:rPr lang="en-US" sz="2400" b="0" strike="noStrike" spc="-1">
                <a:solidFill>
                  <a:srgbClr val="FFFF66"/>
                </a:solidFill>
                <a:latin typeface="Verdana"/>
              </a:rPr>
              <a:t> of each database that is no longer accessible.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sng" strike="noStrike" spc="-1">
                <a:solidFill>
                  <a:srgbClr val="FFFF66"/>
                </a:solidFill>
                <a:uFillTx/>
                <a:latin typeface="Verdana"/>
              </a:rPr>
              <a:t>Last cumulative backup</a:t>
            </a:r>
            <a:r>
              <a:rPr lang="en-US" sz="2400" b="0" strike="noStrike" spc="-1">
                <a:solidFill>
                  <a:srgbClr val="FFFF66"/>
                </a:solidFill>
                <a:latin typeface="Verdana"/>
              </a:rPr>
              <a:t> since full backup.</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sng" strike="noStrike" spc="-1">
                <a:solidFill>
                  <a:srgbClr val="FFFF66"/>
                </a:solidFill>
                <a:uFillTx/>
                <a:latin typeface="Verdana"/>
              </a:rPr>
              <a:t>All incremental backups</a:t>
            </a:r>
            <a:r>
              <a:rPr lang="en-US" sz="2400" b="0" strike="noStrike" spc="-1">
                <a:solidFill>
                  <a:srgbClr val="FFFF66"/>
                </a:solidFill>
                <a:latin typeface="Verdana"/>
              </a:rPr>
              <a:t> since full backup or last cumulative backup in the order in which backups were performed.</a:t>
            </a:r>
          </a:p>
        </p:txBody>
      </p:sp>
      <p:sp>
        <p:nvSpPr>
          <p:cNvPr id="136"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Restoring from Online Backup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Box 136"/>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Apply changes in </a:t>
            </a:r>
            <a:r>
              <a:rPr lang="en-US" sz="2800" b="0" u="sng" strike="noStrike" spc="-1">
                <a:solidFill>
                  <a:srgbClr val="FFFF66"/>
                </a:solidFill>
                <a:uFillTx/>
                <a:latin typeface="Verdana"/>
              </a:rPr>
              <a:t>journal files</a:t>
            </a:r>
            <a:r>
              <a:rPr lang="en-US" sz="2800" b="0" strike="noStrike" spc="-1">
                <a:solidFill>
                  <a:srgbClr val="FFFF66"/>
                </a:solidFill>
                <a:latin typeface="Verdana"/>
              </a:rPr>
              <a:t> for restored databases.</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Without restoring journals, can have open transactions.</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Perform database and application integrity checks.</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Perform full backup of restored system.</a:t>
            </a:r>
          </a:p>
        </p:txBody>
      </p:sp>
      <p:sp>
        <p:nvSpPr>
          <p:cNvPr id="138"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Restoring from Online Backup (cont.)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Box 138"/>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To begin, restore process will prompt for:</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Whether to suspend processes while restoring takes place.</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Recommended.</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Full backup file from which to restore.</a:t>
            </a: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Can restore database to:</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Original directory.</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Different directory.</a:t>
            </a:r>
          </a:p>
        </p:txBody>
      </p:sp>
      <p:sp>
        <p:nvSpPr>
          <p:cNvPr id="140"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Online Restore Process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Box 140"/>
          <p:cNvSpPr txBox="1"/>
          <p:nvPr/>
        </p:nvSpPr>
        <p:spPr>
          <a:xfrm>
            <a:off x="355680" y="1295280"/>
            <a:ext cx="8331120" cy="4724640"/>
          </a:xfrm>
          <a:prstGeom prst="rect">
            <a:avLst/>
          </a:prstGeom>
          <a:noFill/>
          <a:ln w="0">
            <a:noFill/>
          </a:ln>
        </p:spPr>
        <p:txBody>
          <a:bodyPr anchor="t">
            <a:normAutofit fontScale="98192"/>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After full backup file restored, restore process will prompt for:</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Next backup file(s) to restore.</a:t>
            </a:r>
          </a:p>
          <a:p>
            <a:pPr marL="1143000" lvl="2" indent="-228600">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Uses backup history to suggest next logical backup file.</a:t>
            </a:r>
          </a:p>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After all backup files are restored, restore process will prompt for:</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Databases for journal restore.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Name of first journal file to restore.</a:t>
            </a:r>
          </a:p>
          <a:p>
            <a:pPr marL="1143000" lvl="2" indent="-228600">
              <a:lnSpc>
                <a:spcPct val="90000"/>
              </a:lnSpc>
              <a:spcBef>
                <a:spcPts val="499"/>
              </a:spcBef>
              <a:buClr>
                <a:srgbClr val="EB1515"/>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Can choose to restore only some globals from journal file.</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Name of last journal file to restore.</a:t>
            </a:r>
          </a:p>
        </p:txBody>
      </p:sp>
      <p:sp>
        <p:nvSpPr>
          <p:cNvPr id="142"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Online Restore Process (cont.)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TextBox 142"/>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If any open transactions still exist after all journal files are restored, restore process will prompt:</a:t>
            </a:r>
          </a:p>
          <a:p>
            <a:pPr marL="743040" lvl="1" indent="-285840">
              <a:lnSpc>
                <a:spcPct val="90000"/>
              </a:lnSpc>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To rollback open transactions.</a:t>
            </a:r>
          </a:p>
        </p:txBody>
      </p:sp>
      <p:sp>
        <p:nvSpPr>
          <p:cNvPr id="144"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Online Restore Process (cont.)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Box 144"/>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3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Used when all or most storage is unusable.</a:t>
            </a:r>
          </a:p>
          <a:p>
            <a:pPr marL="343080" indent="-343080">
              <a:lnSpc>
                <a:spcPct val="90000"/>
              </a:lnSpc>
              <a:spcBef>
                <a:spcPts val="3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Requires secondary instance of IRIS.</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Cannot perform full restore on running instance.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Recommended to install secondary instance ahead of time.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Shut down unless needed for restore.</a:t>
            </a:r>
          </a:p>
          <a:p>
            <a:pPr marL="343080" indent="-34308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FFFF66"/>
              </a:solidFill>
              <a:latin typeface="Verdana"/>
            </a:endParaRPr>
          </a:p>
        </p:txBody>
      </p:sp>
      <p:sp>
        <p:nvSpPr>
          <p:cNvPr id="146"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 Full Restore Using Online Backup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Box 146"/>
          <p:cNvSpPr txBox="1"/>
          <p:nvPr/>
        </p:nvSpPr>
        <p:spPr>
          <a:xfrm>
            <a:off x="355320" y="1295280"/>
            <a:ext cx="8483400" cy="4724640"/>
          </a:xfrm>
          <a:prstGeom prst="rect">
            <a:avLst/>
          </a:prstGeom>
          <a:noFill/>
          <a:ln w="0">
            <a:noFill/>
          </a:ln>
        </p:spPr>
        <p:txBody>
          <a:bodyPr anchor="t">
            <a:normAutofit fontScale="94264"/>
          </a:bodyPr>
          <a:lstStyle/>
          <a:p>
            <a:pPr marL="11160" indent="-1116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1. Restore file system.</a:t>
            </a:r>
          </a:p>
          <a:p>
            <a:pPr marL="11160" indent="-1116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2. Using secondary instance, perform restores</a:t>
            </a:r>
            <a:br>
              <a:rPr sz="2800"/>
            </a:br>
            <a:r>
              <a:rPr lang="en-US" sz="2800" b="0" strike="noStrike" spc="-1">
                <a:solidFill>
                  <a:srgbClr val="FFFF66"/>
                </a:solidFill>
                <a:latin typeface="Verdana"/>
              </a:rPr>
              <a:t>    for databases and journals for primary</a:t>
            </a:r>
            <a:br>
              <a:rPr sz="2800"/>
            </a:br>
            <a:r>
              <a:rPr lang="en-US" sz="2800" b="0" strike="noStrike" spc="-1">
                <a:solidFill>
                  <a:srgbClr val="FFFF66"/>
                </a:solidFill>
                <a:latin typeface="Verdana"/>
              </a:rPr>
              <a:t>    instance.</a:t>
            </a:r>
          </a:p>
          <a:p>
            <a:pPr marL="11160" indent="-1116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3. Shut down secondary instance.</a:t>
            </a:r>
          </a:p>
          <a:p>
            <a:pPr marL="11160" indent="-1116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4. Remove WIJ for primary instance.</a:t>
            </a:r>
          </a:p>
          <a:p>
            <a:pPr marL="11160" indent="-11160">
              <a:lnSpc>
                <a:spcPct val="9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5. Start primary instance in Emergency</a:t>
            </a:r>
            <a:br>
              <a:rPr sz="2800"/>
            </a:br>
            <a:r>
              <a:rPr lang="en-US" sz="2800" b="0" strike="noStrike" spc="-1">
                <a:solidFill>
                  <a:srgbClr val="FFFF66"/>
                </a:solidFill>
                <a:latin typeface="Verdana"/>
              </a:rPr>
              <a:t> Access mode.</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Perform backup validation. (optional)</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Perform any other tasks needed. (optional)</a:t>
            </a:r>
          </a:p>
          <a:p>
            <a:pPr marL="11160" indent="-11160">
              <a:lnSpc>
                <a:spcPct val="9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6. Restart primary instance normally and</a:t>
            </a:r>
            <a:br>
              <a:rPr sz="2800"/>
            </a:br>
            <a:r>
              <a:rPr lang="en-US" sz="2800" b="0" strike="noStrike" spc="-1">
                <a:solidFill>
                  <a:srgbClr val="FFFF66"/>
                </a:solidFill>
                <a:latin typeface="Verdana"/>
              </a:rPr>
              <a:t>    allow users to connect.</a:t>
            </a:r>
          </a:p>
        </p:txBody>
      </p:sp>
      <p:sp>
        <p:nvSpPr>
          <p:cNvPr id="148"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 Full Restore Using Online Backup (cont.)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Box 148"/>
          <p:cNvSpPr txBox="1"/>
          <p:nvPr/>
        </p:nvSpPr>
        <p:spPr>
          <a:xfrm>
            <a:off x="355680" y="1295280"/>
            <a:ext cx="8331120" cy="4724640"/>
          </a:xfrm>
          <a:prstGeom prst="rect">
            <a:avLst/>
          </a:prstGeom>
          <a:noFill/>
          <a:ln w="0">
            <a:noFill/>
          </a:ln>
        </p:spPr>
        <p:txBody>
          <a:bodyPr anchor="t">
            <a:normAutofit/>
          </a:bodyPr>
          <a:lstStyle/>
          <a:p>
            <a:pPr>
              <a:lnSpc>
                <a:spcPct val="9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1. Start in Emergency Access mode.</a:t>
            </a:r>
          </a:p>
          <a:p>
            <a:pPr>
              <a:lnSpc>
                <a:spcPct val="9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2. Restore databases and journals.</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Perform backup validation. (optional)</a:t>
            </a:r>
          </a:p>
          <a:p>
            <a:pPr marL="743040" lvl="1" indent="-285840">
              <a:lnSpc>
                <a:spcPct val="90000"/>
              </a:lnSpc>
              <a:spcBef>
                <a:spcPts val="300"/>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Perform any other tasks needed. (optional)</a:t>
            </a:r>
          </a:p>
          <a:p>
            <a:pPr>
              <a:lnSpc>
                <a:spcPct val="9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3. Restart normally and allow users to </a:t>
            </a:r>
          </a:p>
          <a:p>
            <a:pPr>
              <a:lnSpc>
                <a:spcPct val="9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    connect.</a:t>
            </a:r>
          </a:p>
        </p:txBody>
      </p:sp>
      <p:sp>
        <p:nvSpPr>
          <p:cNvPr id="150"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How To: Partial Restore Using Online Backup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Box 150"/>
          <p:cNvSpPr txBox="1"/>
          <p:nvPr/>
        </p:nvSpPr>
        <p:spPr>
          <a:xfrm>
            <a:off x="355680" y="1295280"/>
            <a:ext cx="8331120" cy="4724640"/>
          </a:xfrm>
          <a:prstGeom prst="rect">
            <a:avLst/>
          </a:prstGeom>
          <a:noFill/>
          <a:ln w="0">
            <a:noFill/>
          </a:ln>
        </p:spPr>
        <p:txBody>
          <a:bodyPr anchor="t">
            <a:normAutofit/>
          </a:bodyPr>
          <a:lstStyle/>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Clearly mark backups.</a:t>
            </a:r>
          </a:p>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Define backup strategy, such as:</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Keep daily backups for two weeks.</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Keep weekly backups for two months.</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Keep monthly backups for six months.</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Keep quarterly backups for nine months.</a:t>
            </a:r>
          </a:p>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Test restores on regular basis.</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Restore full, incremental and/or cumulative to alternate server.</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Run integrity check.</a:t>
            </a:r>
          </a:p>
          <a:p>
            <a:pPr marL="343080" indent="-343080">
              <a:lnSpc>
                <a:spcPct val="90000"/>
              </a:lnSpc>
              <a:spcBef>
                <a:spcPts val="601"/>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FFFF66"/>
                </a:solidFill>
                <a:latin typeface="Verdana"/>
              </a:rPr>
              <a:t>For Disaster Recovery:</a:t>
            </a:r>
          </a:p>
          <a:p>
            <a:pPr marL="743040" lvl="1" indent="-285840">
              <a:lnSpc>
                <a:spcPct val="90000"/>
              </a:lnSpc>
              <a:spcBef>
                <a:spcPts val="499"/>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FFFF66"/>
                </a:solidFill>
                <a:latin typeface="Verdana"/>
              </a:rPr>
              <a:t>Store backups in secure off-site location.</a:t>
            </a:r>
          </a:p>
          <a:p>
            <a:pPr marL="343080" indent="-343080">
              <a:lnSpc>
                <a:spcPct val="90000"/>
              </a:lnSpc>
              <a:spcBef>
                <a:spcPts val="499"/>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a:solidFill>
                <a:srgbClr val="FFFF66"/>
              </a:solidFill>
              <a:latin typeface="Verdana"/>
            </a:endParaRPr>
          </a:p>
        </p:txBody>
      </p:sp>
      <p:sp>
        <p:nvSpPr>
          <p:cNvPr id="152"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Good Backup Practices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Box 152"/>
          <p:cNvSpPr txBox="1"/>
          <p:nvPr/>
        </p:nvSpPr>
        <p:spPr>
          <a:xfrm>
            <a:off x="355680" y="1295280"/>
            <a:ext cx="8331120" cy="4724640"/>
          </a:xfrm>
          <a:prstGeom prst="rect">
            <a:avLst/>
          </a:prstGeom>
          <a:noFill/>
          <a:ln w="0">
            <a:noFill/>
          </a:ln>
        </p:spPr>
        <p:txBody>
          <a:bodyPr anchor="t">
            <a:normAutofit/>
          </a:bodyPr>
          <a:lstStyle/>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FFFF66"/>
                </a:solidFill>
                <a:latin typeface="Verdana"/>
              </a:rPr>
              <a:t>Developer Community Article:</a:t>
            </a: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strike="noStrike" spc="-1">
                <a:solidFill>
                  <a:srgbClr val="FFFF66"/>
                </a:solidFill>
                <a:latin typeface="Verdana"/>
              </a:rPr>
              <a:t>InterSystems Data Platforms and performance – VM Backups and Caché freeze/thaw scripts</a:t>
            </a:r>
            <a:endParaRPr lang="en-US" sz="2400" b="0" strike="noStrike" spc="-1">
              <a:solidFill>
                <a:srgbClr val="FFFF66"/>
              </a:solidFill>
              <a:latin typeface="Verdana"/>
            </a:endParaRP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i="1" strike="noStrike" spc="-1">
                <a:solidFill>
                  <a:srgbClr val="FFFF66"/>
                </a:solidFill>
                <a:latin typeface="Verdana"/>
              </a:rPr>
              <a:t>Data Integrity Guide &gt; Backup and Restore.</a:t>
            </a:r>
            <a:endParaRPr lang="en-US" sz="2800" b="0" strike="noStrike" spc="-1">
              <a:solidFill>
                <a:srgbClr val="FFFF66"/>
              </a:solidFill>
              <a:latin typeface="Verdana"/>
            </a:endParaRPr>
          </a:p>
          <a:p>
            <a:pPr marL="343080" indent="-343080">
              <a:spcBef>
                <a:spcPts val="700"/>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i="1" strike="noStrike" spc="-1">
                <a:solidFill>
                  <a:srgbClr val="FFFF66"/>
                </a:solidFill>
                <a:latin typeface="Verdana"/>
              </a:rPr>
              <a:t>High Availability Guide &gt; Failover Strategies for High Availability.</a:t>
            </a:r>
            <a:endParaRPr lang="en-US" sz="2800" b="0" strike="noStrike" spc="-1">
              <a:solidFill>
                <a:srgbClr val="FFFF66"/>
              </a:solidFill>
              <a:latin typeface="Verdana"/>
            </a:endParaRPr>
          </a:p>
          <a:p>
            <a:pPr marL="743040" lvl="1" indent="-285840">
              <a:spcBef>
                <a:spcPts val="601"/>
              </a:spcBef>
              <a:buClr>
                <a:srgbClr val="FFFF66"/>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a:solidFill>
                <a:srgbClr val="FFFF66"/>
              </a:solidFill>
              <a:latin typeface="Verdana"/>
            </a:endParaRPr>
          </a:p>
        </p:txBody>
      </p:sp>
      <p:sp>
        <p:nvSpPr>
          <p:cNvPr id="154"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Suggested Readings</a:t>
            </a:r>
          </a:p>
        </p:txBody>
      </p:sp>
      <p:sp>
        <p:nvSpPr>
          <p:cNvPr id="155" name="Rectangle 1">
            <a:hlinkClick r:id="rId3"/>
          </p:cNvPr>
          <p:cNvSpPr/>
          <p:nvPr/>
        </p:nvSpPr>
        <p:spPr>
          <a:xfrm>
            <a:off x="1143000" y="1828800"/>
            <a:ext cx="7238880" cy="76212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t">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a:solidFill>
                <a:srgbClr val="FFFFFF"/>
              </a:solidFill>
              <a:latin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Box 155"/>
          <p:cNvSpPr txBox="1"/>
          <p:nvPr/>
        </p:nvSpPr>
        <p:spPr>
          <a:xfrm>
            <a:off x="355680" y="1295280"/>
            <a:ext cx="8331120" cy="4724640"/>
          </a:xfrm>
          <a:prstGeom prst="rect">
            <a:avLst/>
          </a:prstGeom>
          <a:noFill/>
          <a:ln w="0">
            <a:noFill/>
          </a:ln>
        </p:spPr>
        <p:txBody>
          <a:bodyPr anchor="t">
            <a:normAutofit/>
          </a:bodyPr>
          <a:lstStyle/>
          <a:p>
            <a:pPr marL="343080" indent="-343080">
              <a:spcBef>
                <a:spcPts val="799"/>
              </a:spcBef>
              <a:buClr>
                <a:srgbClr val="FFFFFF"/>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FFFF66"/>
                </a:solidFill>
                <a:latin typeface="Verdana"/>
              </a:rPr>
              <a:t>What are the key points for this module?</a:t>
            </a:r>
          </a:p>
        </p:txBody>
      </p:sp>
      <p:sp>
        <p:nvSpPr>
          <p:cNvPr id="157" name="PlaceHolder 1"/>
          <p:cNvSpPr>
            <a:spLocks noGrp="1"/>
          </p:cNvSpPr>
          <p:nvPr>
            <p:ph type="title"/>
          </p:nvPr>
        </p:nvSpPr>
        <p:spPr>
          <a:xfrm>
            <a:off x="152280" y="152280"/>
            <a:ext cx="8839440" cy="1067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strike="noStrike" spc="-1">
                <a:solidFill>
                  <a:srgbClr val="FFFF66"/>
                </a:solidFill>
                <a:latin typeface="Verdana"/>
              </a:rPr>
              <a:t>Summary</a:t>
            </a:r>
          </a:p>
        </p:txBody>
      </p:sp>
      <p:pic>
        <p:nvPicPr>
          <p:cNvPr id="158" name="Picture 5" descr="J0239197">
            <a:hlinkClick r:id="rId3"/>
          </p:cNvPr>
          <p:cNvPicPr/>
          <p:nvPr/>
        </p:nvPicPr>
        <p:blipFill>
          <a:blip r:embed="rId4"/>
          <a:stretch/>
        </p:blipFill>
        <p:spPr>
          <a:xfrm>
            <a:off x="3048120" y="2438280"/>
            <a:ext cx="3537000" cy="3645000"/>
          </a:xfrm>
          <a:prstGeom prst="rect">
            <a:avLst/>
          </a:prstGeom>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8574</TotalTime>
  <Words>4164</Words>
  <Application>Microsoft Office PowerPoint</Application>
  <PresentationFormat>On-screen Show (4:3)</PresentationFormat>
  <Paragraphs>376</Paragraphs>
  <Slides>34</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Arial</vt:lpstr>
      <vt:lpstr>Courier New</vt:lpstr>
      <vt:lpstr>Times New Roman</vt:lpstr>
      <vt:lpstr>Verdana</vt:lpstr>
      <vt:lpstr>Wingdings</vt:lpstr>
      <vt:lpstr>Office</vt:lpstr>
      <vt:lpstr>Office</vt:lpstr>
      <vt:lpstr>Backup</vt:lpstr>
      <vt:lpstr>Overview</vt:lpstr>
      <vt:lpstr>Items to Backup</vt:lpstr>
      <vt:lpstr>External Backups</vt:lpstr>
      <vt:lpstr>External Backup Approaches</vt:lpstr>
      <vt:lpstr>External Backup</vt:lpstr>
      <vt:lpstr>External Backup (cont.)</vt:lpstr>
      <vt:lpstr>Cold Backup</vt:lpstr>
      <vt:lpstr>Emergency Access During Restoration Process</vt:lpstr>
      <vt:lpstr>How To: Full Restore Using External Backup</vt:lpstr>
      <vt:lpstr>How To: Partial Restore Using External Backup</vt:lpstr>
      <vt:lpstr>WIJ in External Backup Restores</vt:lpstr>
      <vt:lpstr>Restore and Transactions</vt:lpstr>
      <vt:lpstr>Online Backup</vt:lpstr>
      <vt:lpstr>Multiple Backup Passes</vt:lpstr>
      <vt:lpstr>Types of Backup </vt:lpstr>
      <vt:lpstr>How To: Configure Backup</vt:lpstr>
      <vt:lpstr>How To: Configure Backup (cont.)</vt:lpstr>
      <vt:lpstr>How To: Estimate Backup Size</vt:lpstr>
      <vt:lpstr>How To: Run a Backup</vt:lpstr>
      <vt:lpstr>How To:  Review Backup Results</vt:lpstr>
      <vt:lpstr>Backup Files</vt:lpstr>
      <vt:lpstr>How To: Restore using ^BACKUP</vt:lpstr>
      <vt:lpstr>Restoring from Online Backup</vt:lpstr>
      <vt:lpstr>Restoring from Online Backup (cont.)</vt:lpstr>
      <vt:lpstr>Online Restore Process</vt:lpstr>
      <vt:lpstr>Online Restore Process (cont.)</vt:lpstr>
      <vt:lpstr>Online Restore Process (cont.)</vt:lpstr>
      <vt:lpstr>How To: Full Restore Using Online Backup</vt:lpstr>
      <vt:lpstr>How To: Full Restore Using Online Backup (cont.)</vt:lpstr>
      <vt:lpstr>How To: Partial Restore Using Online Backup</vt:lpstr>
      <vt:lpstr>Good Backup Practices</vt:lpstr>
      <vt:lpstr>Suggested Readings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Bryan Hoon</cp:lastModifiedBy>
  <cp:revision>38</cp:revision>
  <dcterms:modified xsi:type="dcterms:W3CDTF">2026-05-13T09:09:31Z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2011-09-22T16:23:07Z</dcterms:created>
  <dc:creator/>
  <dc:description/>
  <dc:language>en-US</dc:language>
  <cp:lastModifiedBy>Bryan Hoon</cp:lastModifiedBy>
  <cp:lastPrinted>2011-04-20T18:55:12Z</cp:lastPrinted>
  <dcterms:modified xsi:type="dcterms:W3CDTF">2026-05-13T02:00:38Z</dcterms:modified>
  <cp:revision>317</cp:revision>
  <dc:subject/>
  <dc:title>Backup</dc:title>
</cp:coreProperties>
</file>